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7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1201400" cy="6035040"/>
          </a:xfrm>
          <a:prstGeom prst="rect">
            <a:avLst/>
          </a:prstGeom>
          <a:solidFill>
            <a:srgbClr val="16273A"/>
          </a:solidFill>
          <a:ln w="15240">
            <a:solidFill>
              <a:srgbClr val="49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960120"/>
            <a:ext cx="1078992" cy="100584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298448"/>
            <a:ext cx="448056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2400" b="1">
                <a:solidFill>
                  <a:srgbClr val="128982"/>
                </a:solidFill>
                <a:latin typeface="Microsoft YaHei"/>
              </a:rPr>
              <a:t>Codex 二次开发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874519"/>
            <a:ext cx="7863840" cy="126187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企业级 Agent 平台</a:t>
            </a:r>
          </a:p>
          <a:p>
            <a:pPr algn="l">
              <a:lnSpc>
                <a:spcPct val="104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技术说明演示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520440"/>
            <a:ext cx="9875520" cy="5029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0">
                <a:solidFill>
                  <a:srgbClr val="D5DEE6"/>
                </a:solidFill>
                <a:latin typeface="Microsoft YaHei"/>
              </a:rPr>
              <a:t>对比 OpenClaw 与 Claude，并说明性能、安全、用户介入、多并发、多用户、多轮会话、外部系统连接与入口开发。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645152"/>
            <a:ext cx="10332720" cy="13716"/>
          </a:xfrm>
          <a:prstGeom prst="rect">
            <a:avLst/>
          </a:prstGeom>
          <a:solidFill>
            <a:srgbClr val="526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4983480"/>
            <a:ext cx="548640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企业架构 / 平台工程 / 安全合规评审版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4983480"/>
            <a:ext cx="178308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4000"/>
              </a:lnSpc>
            </a:pPr>
            <a:r>
              <a:rPr sz="1400" b="0">
                <a:solidFill>
                  <a:srgbClr val="D5DEE6"/>
                </a:solidFill>
                <a:latin typeface="Microsoft YaHei"/>
              </a:rPr>
              <a:t>2026-06-08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49640" y="1051560"/>
            <a:ext cx="2651760" cy="2057400"/>
          </a:xfrm>
          <a:prstGeom prst="rect">
            <a:avLst/>
          </a:prstGeom>
          <a:solidFill>
            <a:srgbClr val="233952"/>
          </a:solidFill>
          <a:ln w="12700">
            <a:solidFill>
              <a:srgbClr val="546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353312"/>
            <a:ext cx="210312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平台化重点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1773936"/>
            <a:ext cx="1920240" cy="9144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600" b="0">
                <a:solidFill>
                  <a:srgbClr val="E5EBF0"/>
                </a:solidFill>
                <a:latin typeface="Microsoft YaHei"/>
              </a:rPr>
              <a:t>入口统一</a:t>
            </a:r>
          </a:p>
          <a:p>
            <a:pPr algn="ctr">
              <a:lnSpc>
                <a:spcPct val="104000"/>
              </a:lnSpc>
            </a:pPr>
            <a:r>
              <a:rPr sz="1600" b="0">
                <a:solidFill>
                  <a:srgbClr val="E5EBF0"/>
                </a:solidFill>
                <a:latin typeface="Microsoft YaHei"/>
              </a:rPr>
              <a:t>执行隔离</a:t>
            </a:r>
          </a:p>
          <a:p>
            <a:pPr algn="ctr">
              <a:lnSpc>
                <a:spcPct val="104000"/>
              </a:lnSpc>
            </a:pPr>
            <a:r>
              <a:rPr sz="1600" b="0">
                <a:solidFill>
                  <a:srgbClr val="E5EBF0"/>
                </a:solidFill>
                <a:latin typeface="Microsoft YaHei"/>
              </a:rPr>
              <a:t>人工审批</a:t>
            </a:r>
          </a:p>
          <a:p>
            <a:pPr algn="ctr">
              <a:lnSpc>
                <a:spcPct val="104000"/>
              </a:lnSpc>
            </a:pPr>
            <a:r>
              <a:rPr sz="1600" b="0">
                <a:solidFill>
                  <a:srgbClr val="E5EBF0"/>
                </a:solidFill>
                <a:latin typeface="Microsoft YaHei"/>
              </a:rPr>
              <a:t>审计可追踪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" y="320040"/>
            <a:ext cx="283464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502920"/>
            <a:ext cx="804672" cy="73152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789920" cy="43891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2900" b="1">
                <a:solidFill>
                  <a:srgbClr val="151B22"/>
                </a:solidFill>
                <a:latin typeface="Microsoft YaHei"/>
              </a:rPr>
              <a:t>核心结论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170432"/>
            <a:ext cx="1014984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0">
                <a:solidFill>
                  <a:srgbClr val="525E6C"/>
                </a:solidFill>
                <a:latin typeface="Microsoft YaHei"/>
              </a:rPr>
              <a:t>Codex 的优势不是“聊天更聪明”，而是更容易把代码任务做成可治理的工程闭环。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10927080" cy="13716"/>
          </a:xfrm>
          <a:prstGeom prst="rect">
            <a:avLst/>
          </a:prstGeom>
          <a:solidFill>
            <a:srgbClr val="D3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3520440" cy="1828800"/>
          </a:xfrm>
          <a:prstGeom prst="rect">
            <a:avLst/>
          </a:prstGeom>
          <a:solidFill>
            <a:srgbClr val="E1F3F1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91440" cy="1828800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39112"/>
            <a:ext cx="310896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>
                <a:solidFill>
                  <a:srgbClr val="151B22"/>
                </a:solidFill>
                <a:latin typeface="Microsoft YaHei"/>
              </a:rPr>
              <a:t>Codex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50591"/>
            <a:ext cx="3108960" cy="11704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0">
                <a:solidFill>
                  <a:srgbClr val="525E6C"/>
                </a:solidFill>
                <a:latin typeface="Microsoft YaHei"/>
              </a:rPr>
              <a:t>适合承接代码理解、补丁生成、测试执行、代码审查和工程交付链路。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53712" y="1874519"/>
            <a:ext cx="3520440" cy="1828800"/>
          </a:xfrm>
          <a:prstGeom prst="rect">
            <a:avLst/>
          </a:prstGeom>
          <a:solidFill>
            <a:srgbClr val="FAEDE2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3712" y="1874519"/>
            <a:ext cx="91440" cy="1828800"/>
          </a:xfrm>
          <a:prstGeom prst="rect">
            <a:avLst/>
          </a:prstGeom>
          <a:solidFill>
            <a:srgbClr val="C67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2312" y="2039112"/>
            <a:ext cx="310896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>
                <a:solidFill>
                  <a:srgbClr val="151B22"/>
                </a:solidFill>
                <a:latin typeface="Microsoft YaHei"/>
              </a:rPr>
              <a:t>OpenClaw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2450591"/>
            <a:ext cx="3108960" cy="11704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0">
                <a:solidFill>
                  <a:srgbClr val="525E6C"/>
                </a:solidFill>
                <a:latin typeface="Microsoft YaHei"/>
              </a:rPr>
              <a:t>适合开源可控和 PoC，但企业级并发、审计、安全策略通常需要大量自建。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30183" y="1874519"/>
            <a:ext cx="2743200" cy="1828800"/>
          </a:xfrm>
          <a:prstGeom prst="rect">
            <a:avLst/>
          </a:prstGeom>
          <a:solidFill>
            <a:srgbClr val="EFEBF9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30183" y="1874519"/>
            <a:ext cx="91440" cy="1828800"/>
          </a:xfrm>
          <a:prstGeom prst="rect">
            <a:avLst/>
          </a:prstGeom>
          <a:solidFill>
            <a:srgbClr val="6D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58784" y="2039112"/>
            <a:ext cx="233172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>
                <a:solidFill>
                  <a:srgbClr val="151B22"/>
                </a:solidFill>
                <a:latin typeface="Microsoft YaHei"/>
              </a:rPr>
              <a:t>Claude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2450591"/>
            <a:ext cx="2331720" cy="11704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0">
                <a:solidFill>
                  <a:srgbClr val="525E6C"/>
                </a:solidFill>
                <a:latin typeface="Microsoft YaHei"/>
              </a:rPr>
              <a:t>适合长上下文与文本推理；作为平台底座仍需外部工具治理体系。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4507992"/>
            <a:ext cx="109728" cy="109728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6152" y="4389120"/>
            <a:ext cx="10168128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620" b="0">
                <a:solidFill>
                  <a:srgbClr val="151B22"/>
                </a:solidFill>
                <a:latin typeface="Microsoft YaHei"/>
              </a:rPr>
              <a:t>主方案：Codex 作为软件工程 Agent 执行层。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5020055"/>
            <a:ext cx="109728" cy="109728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16152" y="4901183"/>
            <a:ext cx="10168128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620" b="0">
                <a:solidFill>
                  <a:srgbClr val="151B22"/>
                </a:solidFill>
                <a:latin typeface="Microsoft YaHei"/>
              </a:rPr>
              <a:t>组合策略：Claude 补充高质量分析；OpenClaw 用于私有化探索。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5532120"/>
            <a:ext cx="109728" cy="109728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6152" y="5413248"/>
            <a:ext cx="10168128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620" b="0">
                <a:solidFill>
                  <a:srgbClr val="151B22"/>
                </a:solidFill>
                <a:latin typeface="Microsoft YaHei"/>
              </a:rPr>
              <a:t>平台红线：所有高风险动作必须审批、审计、可回滚。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73952"/>
            <a:ext cx="594360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525E6C"/>
                </a:solidFill>
                <a:latin typeface="Microsoft YaHei"/>
              </a:rPr>
              <a:t>Codex 二次开发用于企业级 Agent 平台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" y="320040"/>
            <a:ext cx="283464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502920"/>
            <a:ext cx="804672" cy="73152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789920" cy="43891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2900" b="1">
                <a:solidFill>
                  <a:srgbClr val="151B22"/>
                </a:solidFill>
                <a:latin typeface="Microsoft YaHei"/>
              </a:rPr>
              <a:t>企业级平台目标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170432"/>
            <a:ext cx="1014984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0">
                <a:solidFill>
                  <a:srgbClr val="525E6C"/>
                </a:solidFill>
                <a:latin typeface="Microsoft YaHei"/>
              </a:rPr>
              <a:t>先把平台要控制的边界定义清楚，再决定模型和框架怎么放。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10927080" cy="13716"/>
          </a:xfrm>
          <a:prstGeom prst="rect">
            <a:avLst/>
          </a:prstGeom>
          <a:solidFill>
            <a:srgbClr val="D3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856231"/>
            <a:ext cx="3291840" cy="1371600"/>
          </a:xfrm>
          <a:prstGeom prst="rect">
            <a:avLst/>
          </a:prstGeom>
          <a:solidFill>
            <a:srgbClr val="E1F3F1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" y="1856231"/>
            <a:ext cx="91440" cy="1371600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020824"/>
            <a:ext cx="288036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750" b="1">
                <a:solidFill>
                  <a:srgbClr val="151B22"/>
                </a:solidFill>
                <a:latin typeface="Microsoft YaHei"/>
              </a:rPr>
              <a:t>入口统一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432303"/>
            <a:ext cx="2880360" cy="7132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320" b="0">
                <a:solidFill>
                  <a:srgbClr val="525E6C"/>
                </a:solidFill>
                <a:latin typeface="Microsoft YaHei"/>
              </a:rPr>
              <a:t>Web、IDE、CLI、ChatOps、工单、CI/CD 都进入同一个 Agent Gateway。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9704" y="1856231"/>
            <a:ext cx="3291840" cy="1371600"/>
          </a:xfrm>
          <a:prstGeom prst="rect">
            <a:avLst/>
          </a:prstGeom>
          <a:solidFill>
            <a:srgbClr val="FAEDE2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9704" y="1856231"/>
            <a:ext cx="91440" cy="1371600"/>
          </a:xfrm>
          <a:prstGeom prst="rect">
            <a:avLst/>
          </a:prstGeom>
          <a:solidFill>
            <a:srgbClr val="C67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4" y="2020824"/>
            <a:ext cx="288036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750" b="1">
                <a:solidFill>
                  <a:srgbClr val="151B22"/>
                </a:solidFill>
                <a:latin typeface="Microsoft YaHei"/>
              </a:rPr>
              <a:t>任务可控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2432303"/>
            <a:ext cx="2880360" cy="7132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320" b="0">
                <a:solidFill>
                  <a:srgbClr val="525E6C"/>
                </a:solidFill>
                <a:latin typeface="Microsoft YaHei"/>
              </a:rPr>
              <a:t>任务有状态机、审批点、预算、超时、取消、重试和结果归档。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0456" y="1856231"/>
            <a:ext cx="3291840" cy="1371600"/>
          </a:xfrm>
          <a:prstGeom prst="rect">
            <a:avLst/>
          </a:prstGeom>
          <a:solidFill>
            <a:srgbClr val="E4EDFA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0456" y="1856231"/>
            <a:ext cx="91440" cy="1371600"/>
          </a:xfrm>
          <a:prstGeom prst="rect">
            <a:avLst/>
          </a:prstGeom>
          <a:solidFill>
            <a:srgbClr val="31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6" y="2020824"/>
            <a:ext cx="288036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750" b="1">
                <a:solidFill>
                  <a:srgbClr val="151B22"/>
                </a:solidFill>
                <a:latin typeface="Microsoft YaHei"/>
              </a:rPr>
              <a:t>上下文可信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432303"/>
            <a:ext cx="2880360" cy="7132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320" b="0">
                <a:solidFill>
                  <a:srgbClr val="525E6C"/>
                </a:solidFill>
                <a:latin typeface="Microsoft YaHei"/>
              </a:rPr>
              <a:t>代码、文档、日志、数据库通过授权连接器读取，避免敏感数据散落在提示词。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" y="3703320"/>
            <a:ext cx="3291840" cy="1371600"/>
          </a:xfrm>
          <a:prstGeom prst="rect">
            <a:avLst/>
          </a:prstGeom>
          <a:solidFill>
            <a:srgbClr val="E5F4E9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" y="3703320"/>
            <a:ext cx="91440" cy="1371600"/>
          </a:xfrm>
          <a:prstGeom prst="rect">
            <a:avLst/>
          </a:prstGeom>
          <a:solidFill>
            <a:srgbClr val="3D9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3867911"/>
            <a:ext cx="288036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750" b="1">
                <a:solidFill>
                  <a:srgbClr val="151B22"/>
                </a:solidFill>
                <a:latin typeface="Microsoft YaHei"/>
              </a:rPr>
              <a:t>执行隔离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279392"/>
            <a:ext cx="2880360" cy="7132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320" b="0">
                <a:solidFill>
                  <a:srgbClr val="525E6C"/>
                </a:solidFill>
                <a:latin typeface="Microsoft YaHei"/>
              </a:rPr>
              <a:t>按租户、用户、项目、任务分配独立工作区和工具白名单。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9704" y="3703320"/>
            <a:ext cx="3291840" cy="1371600"/>
          </a:xfrm>
          <a:prstGeom prst="rect">
            <a:avLst/>
          </a:prstGeom>
          <a:solidFill>
            <a:srgbClr val="EFEBF9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9704" y="3703320"/>
            <a:ext cx="91440" cy="1371600"/>
          </a:xfrm>
          <a:prstGeom prst="rect">
            <a:avLst/>
          </a:prstGeom>
          <a:solidFill>
            <a:srgbClr val="6D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18304" y="3867911"/>
            <a:ext cx="288036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750" b="1">
                <a:solidFill>
                  <a:srgbClr val="151B22"/>
                </a:solidFill>
                <a:latin typeface="Microsoft YaHei"/>
              </a:rPr>
              <a:t>结果可验收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18304" y="4279392"/>
            <a:ext cx="2880360" cy="7132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320" b="0">
                <a:solidFill>
                  <a:srgbClr val="525E6C"/>
                </a:solidFill>
                <a:latin typeface="Microsoft YaHei"/>
              </a:rPr>
              <a:t>交付 diff、测试日志、证据链、风险说明和回滚路径。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0456" y="3703320"/>
            <a:ext cx="3291840" cy="1371600"/>
          </a:xfrm>
          <a:prstGeom prst="rect">
            <a:avLst/>
          </a:prstGeom>
          <a:solidFill>
            <a:srgbClr val="FAE7E7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0456" y="3703320"/>
            <a:ext cx="91440" cy="1371600"/>
          </a:xfrm>
          <a:prstGeom prst="rect">
            <a:avLst/>
          </a:prstGeom>
          <a:solidFill>
            <a:srgbClr val="BC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49056" y="3867911"/>
            <a:ext cx="288036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750" b="1">
                <a:solidFill>
                  <a:srgbClr val="151B22"/>
                </a:solidFill>
                <a:latin typeface="Microsoft YaHei"/>
              </a:rPr>
              <a:t>运营可量化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9056" y="4279392"/>
            <a:ext cx="2880360" cy="7132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320" b="0">
                <a:solidFill>
                  <a:srgbClr val="525E6C"/>
                </a:solidFill>
                <a:latin typeface="Microsoft YaHei"/>
              </a:rPr>
              <a:t>用成功率、人工接管率、完成时间、成本和安全事件衡量质量。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73952"/>
            <a:ext cx="594360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525E6C"/>
                </a:solidFill>
                <a:latin typeface="Microsoft YaHei"/>
              </a:rPr>
              <a:t>Codex 二次开发用于企业级 Agent 平台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" y="320040"/>
            <a:ext cx="283464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502920"/>
            <a:ext cx="804672" cy="73152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789920" cy="43891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2900" b="1">
                <a:solidFill>
                  <a:srgbClr val="151B22"/>
                </a:solidFill>
                <a:latin typeface="Microsoft YaHei"/>
              </a:rPr>
              <a:t>方案对比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170432"/>
            <a:ext cx="1014984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0">
                <a:solidFill>
                  <a:srgbClr val="525E6C"/>
                </a:solidFill>
                <a:latin typeface="Microsoft YaHei"/>
              </a:rPr>
              <a:t>按企业平台落地维度比较，而不是只比较单次回答质量。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10927080" cy="13716"/>
          </a:xfrm>
          <a:prstGeom prst="rect">
            <a:avLst/>
          </a:prstGeom>
          <a:solidFill>
            <a:srgbClr val="D3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83080"/>
            <a:ext cx="1417320" cy="475488"/>
          </a:xfrm>
          <a:prstGeom prst="rect">
            <a:avLst/>
          </a:prstGeom>
          <a:solidFill>
            <a:srgbClr val="16273A"/>
          </a:solidFill>
          <a:ln w="1270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892807"/>
            <a:ext cx="1307592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维度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0552" y="1783080"/>
            <a:ext cx="3337560" cy="475488"/>
          </a:xfrm>
          <a:prstGeom prst="rect">
            <a:avLst/>
          </a:prstGeom>
          <a:solidFill>
            <a:srgbClr val="16273A"/>
          </a:solidFill>
          <a:ln w="1270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85416" y="1892807"/>
            <a:ext cx="3227832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Codex 二次开发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8112" y="1783080"/>
            <a:ext cx="3337560" cy="475488"/>
          </a:xfrm>
          <a:prstGeom prst="rect">
            <a:avLst/>
          </a:prstGeom>
          <a:solidFill>
            <a:srgbClr val="16273A"/>
          </a:solidFill>
          <a:ln w="1270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22976" y="1892807"/>
            <a:ext cx="3227832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OpenClaw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05672" y="1783080"/>
            <a:ext cx="3337560" cy="475488"/>
          </a:xfrm>
          <a:prstGeom prst="rect">
            <a:avLst/>
          </a:prstGeom>
          <a:solidFill>
            <a:srgbClr val="16273A"/>
          </a:solidFill>
          <a:ln w="1270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0536" y="1892807"/>
            <a:ext cx="3227832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Claude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258568"/>
            <a:ext cx="1417320" cy="704088"/>
          </a:xfrm>
          <a:prstGeom prst="rect">
            <a:avLst/>
          </a:prstGeom>
          <a:solidFill>
            <a:srgbClr val="EAEFF1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2350008"/>
            <a:ext cx="123444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89" b="1">
                <a:solidFill>
                  <a:srgbClr val="151B22"/>
                </a:solidFill>
                <a:latin typeface="Microsoft YaHei"/>
              </a:rPr>
              <a:t>定位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30552" y="2258568"/>
            <a:ext cx="33375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21992" y="2350008"/>
            <a:ext cx="315467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70" b="0">
                <a:solidFill>
                  <a:srgbClr val="525E6C"/>
                </a:solidFill>
                <a:latin typeface="Microsoft YaHei"/>
              </a:rPr>
              <a:t>工程任务闭环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68112" y="2258568"/>
            <a:ext cx="33375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59552" y="2350008"/>
            <a:ext cx="315467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70" b="0">
                <a:solidFill>
                  <a:srgbClr val="525E6C"/>
                </a:solidFill>
                <a:latin typeface="Microsoft YaHei"/>
              </a:rPr>
              <a:t>开源 Agent 实验底座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05672" y="2258568"/>
            <a:ext cx="33375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97112" y="2350008"/>
            <a:ext cx="315467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70" b="0">
                <a:solidFill>
                  <a:srgbClr val="525E6C"/>
                </a:solidFill>
                <a:latin typeface="Microsoft YaHei"/>
              </a:rPr>
              <a:t>通用强推理模型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2962656"/>
            <a:ext cx="1417320" cy="704088"/>
          </a:xfrm>
          <a:prstGeom prst="rect">
            <a:avLst/>
          </a:prstGeom>
          <a:solidFill>
            <a:srgbClr val="EAEFF1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054096"/>
            <a:ext cx="123444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89" b="1">
                <a:solidFill>
                  <a:srgbClr val="151B22"/>
                </a:solidFill>
                <a:latin typeface="Microsoft YaHei"/>
              </a:rPr>
              <a:t>开发量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30552" y="2962656"/>
            <a:ext cx="33375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21992" y="3054096"/>
            <a:ext cx="315467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70" b="0">
                <a:solidFill>
                  <a:srgbClr val="525E6C"/>
                </a:solidFill>
                <a:latin typeface="Microsoft YaHei"/>
              </a:rPr>
              <a:t>中等：封装入口、会话、策略、工具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68112" y="2962656"/>
            <a:ext cx="33375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59552" y="3054096"/>
            <a:ext cx="315467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70" b="0">
                <a:solidFill>
                  <a:srgbClr val="525E6C"/>
                </a:solidFill>
                <a:latin typeface="Microsoft YaHei"/>
              </a:rPr>
              <a:t>较高：平台能力多为自建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05672" y="2962656"/>
            <a:ext cx="33375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97112" y="3054096"/>
            <a:ext cx="315467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70" b="0">
                <a:solidFill>
                  <a:srgbClr val="525E6C"/>
                </a:solidFill>
                <a:latin typeface="Microsoft YaHei"/>
              </a:rPr>
              <a:t>中高：运行态与治理需自建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3666744"/>
            <a:ext cx="1417320" cy="704088"/>
          </a:xfrm>
          <a:prstGeom prst="rect">
            <a:avLst/>
          </a:prstGeom>
          <a:solidFill>
            <a:srgbClr val="EAEFF1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3758183"/>
            <a:ext cx="123444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89" b="1">
                <a:solidFill>
                  <a:srgbClr val="151B22"/>
                </a:solidFill>
                <a:latin typeface="Microsoft YaHei"/>
              </a:rPr>
              <a:t>性能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30552" y="3666744"/>
            <a:ext cx="33375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21992" y="3758183"/>
            <a:ext cx="315467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70" b="0">
                <a:solidFill>
                  <a:srgbClr val="525E6C"/>
                </a:solidFill>
                <a:latin typeface="Microsoft YaHei"/>
              </a:rPr>
              <a:t>代码编辑、测试、审查链路效率高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68112" y="3666744"/>
            <a:ext cx="33375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59552" y="3758183"/>
            <a:ext cx="315467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70" b="0">
                <a:solidFill>
                  <a:srgbClr val="525E6C"/>
                </a:solidFill>
                <a:latin typeface="Microsoft YaHei"/>
              </a:rPr>
              <a:t>取决于模型和自研运行时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05672" y="3666744"/>
            <a:ext cx="33375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97112" y="3758183"/>
            <a:ext cx="315467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70" b="0">
                <a:solidFill>
                  <a:srgbClr val="525E6C"/>
                </a:solidFill>
                <a:latin typeface="Microsoft YaHei"/>
              </a:rPr>
              <a:t>长上下文分析能力强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4370831"/>
            <a:ext cx="1417320" cy="704088"/>
          </a:xfrm>
          <a:prstGeom prst="rect">
            <a:avLst/>
          </a:prstGeom>
          <a:solidFill>
            <a:srgbClr val="EAEFF1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4462271"/>
            <a:ext cx="123444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89" b="1">
                <a:solidFill>
                  <a:srgbClr val="151B22"/>
                </a:solidFill>
                <a:latin typeface="Microsoft YaHei"/>
              </a:rPr>
              <a:t>安全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30552" y="4370831"/>
            <a:ext cx="33375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21992" y="4462271"/>
            <a:ext cx="315467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70" b="0">
                <a:solidFill>
                  <a:srgbClr val="525E6C"/>
                </a:solidFill>
                <a:latin typeface="Microsoft YaHei"/>
              </a:rPr>
              <a:t>适合叠加沙箱、审批、审计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4370831"/>
            <a:ext cx="33375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59552" y="4462271"/>
            <a:ext cx="315467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70" b="0">
                <a:solidFill>
                  <a:srgbClr val="525E6C"/>
                </a:solidFill>
                <a:latin typeface="Microsoft YaHei"/>
              </a:rPr>
              <a:t>透明可控但需硬化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05672" y="4370831"/>
            <a:ext cx="33375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97112" y="4462271"/>
            <a:ext cx="315467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70" b="0">
                <a:solidFill>
                  <a:srgbClr val="525E6C"/>
                </a:solidFill>
                <a:latin typeface="Microsoft YaHei"/>
              </a:rPr>
              <a:t>依赖外部平台承载策略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3232" y="5074920"/>
            <a:ext cx="1417320" cy="704088"/>
          </a:xfrm>
          <a:prstGeom prst="rect">
            <a:avLst/>
          </a:prstGeom>
          <a:solidFill>
            <a:srgbClr val="EAEFF1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2" y="5166359"/>
            <a:ext cx="123444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89" b="1">
                <a:solidFill>
                  <a:srgbClr val="151B22"/>
                </a:solidFill>
                <a:latin typeface="Microsoft YaHei"/>
              </a:rPr>
              <a:t>最佳用途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30552" y="5074920"/>
            <a:ext cx="33375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21992" y="5166359"/>
            <a:ext cx="315467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70" b="0">
                <a:solidFill>
                  <a:srgbClr val="525E6C"/>
                </a:solidFill>
                <a:latin typeface="Microsoft YaHei"/>
              </a:rPr>
              <a:t>研发、DevOps、代码库自动化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68112" y="5074920"/>
            <a:ext cx="33375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59552" y="5166359"/>
            <a:ext cx="315467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70" b="0">
                <a:solidFill>
                  <a:srgbClr val="525E6C"/>
                </a:solidFill>
                <a:latin typeface="Microsoft YaHei"/>
              </a:rPr>
              <a:t>私有化 PoC、可控实验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05672" y="5074920"/>
            <a:ext cx="333756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97112" y="5166359"/>
            <a:ext cx="3154679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70" b="0">
                <a:solidFill>
                  <a:srgbClr val="525E6C"/>
                </a:solidFill>
                <a:latin typeface="Microsoft YaHei"/>
              </a:rPr>
              <a:t>知识分析、写作、复杂推理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473952"/>
            <a:ext cx="594360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525E6C"/>
                </a:solidFill>
                <a:latin typeface="Microsoft YaHei"/>
              </a:rPr>
              <a:t>Codex 二次开发用于企业级 Agent 平台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" y="320040"/>
            <a:ext cx="283464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502920"/>
            <a:ext cx="804672" cy="73152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789920" cy="43891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2900" b="1">
                <a:solidFill>
                  <a:srgbClr val="151B22"/>
                </a:solidFill>
                <a:latin typeface="Microsoft YaHei"/>
              </a:rPr>
              <a:t>参考总体架构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170432"/>
            <a:ext cx="1014984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0">
                <a:solidFill>
                  <a:srgbClr val="525E6C"/>
                </a:solidFill>
                <a:latin typeface="Microsoft YaHei"/>
              </a:rPr>
              <a:t>Codex 负责工程任务执行；企业控制能力在平台外围。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10927080" cy="13716"/>
          </a:xfrm>
          <a:prstGeom prst="rect">
            <a:avLst/>
          </a:prstGeom>
          <a:solidFill>
            <a:srgbClr val="D3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783080"/>
            <a:ext cx="9326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783080"/>
            <a:ext cx="1600200" cy="713232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984248"/>
            <a:ext cx="128016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入口层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984248"/>
            <a:ext cx="704088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0">
                <a:solidFill>
                  <a:srgbClr val="151B22"/>
                </a:solidFill>
                <a:latin typeface="Microsoft YaHei"/>
              </a:rPr>
              <a:t>Web / IDE / CLI / ChatOps / 工单 / CI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77840" y="2496312"/>
            <a:ext cx="0" cy="265176"/>
          </a:xfrm>
          <a:prstGeom prst="line">
            <a:avLst/>
          </a:prstGeom>
          <a:ln w="13970">
            <a:solidFill>
              <a:srgbClr val="52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14400" y="2770632"/>
            <a:ext cx="9326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2770632"/>
            <a:ext cx="1600200" cy="713232"/>
          </a:xfrm>
          <a:prstGeom prst="rect">
            <a:avLst/>
          </a:prstGeom>
          <a:solidFill>
            <a:srgbClr val="6D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971800"/>
            <a:ext cx="128016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Agent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971800"/>
            <a:ext cx="704088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0">
                <a:solidFill>
                  <a:srgbClr val="151B22"/>
                </a:solidFill>
                <a:latin typeface="Microsoft YaHei"/>
              </a:rPr>
              <a:t>认证、租户识别、路由、限流、事件流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77840" y="3483864"/>
            <a:ext cx="0" cy="265176"/>
          </a:xfrm>
          <a:prstGeom prst="line">
            <a:avLst/>
          </a:prstGeom>
          <a:ln w="13970">
            <a:solidFill>
              <a:srgbClr val="52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14400" y="3758184"/>
            <a:ext cx="9326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3758184"/>
            <a:ext cx="1600200" cy="713232"/>
          </a:xfrm>
          <a:prstGeom prst="rect">
            <a:avLst/>
          </a:prstGeom>
          <a:solidFill>
            <a:srgbClr val="C67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959352"/>
            <a:ext cx="128016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编排层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959352"/>
            <a:ext cx="704088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0">
                <a:solidFill>
                  <a:srgbClr val="151B22"/>
                </a:solidFill>
                <a:latin typeface="Microsoft YaHei"/>
              </a:rPr>
              <a:t>任务状态机、多轮会话、HITL、队列调度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577840" y="4471416"/>
            <a:ext cx="0" cy="265176"/>
          </a:xfrm>
          <a:prstGeom prst="line">
            <a:avLst/>
          </a:prstGeom>
          <a:ln w="13970">
            <a:solidFill>
              <a:srgbClr val="52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14400" y="4745736"/>
            <a:ext cx="9326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4745736"/>
            <a:ext cx="1600200" cy="713232"/>
          </a:xfrm>
          <a:prstGeom prst="rect">
            <a:avLst/>
          </a:prstGeom>
          <a:solidFill>
            <a:srgbClr val="3D9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4946904"/>
            <a:ext cx="128016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执行层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946904"/>
            <a:ext cx="704088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0">
                <a:solidFill>
                  <a:srgbClr val="151B22"/>
                </a:solidFill>
                <a:latin typeface="Microsoft YaHei"/>
              </a:rPr>
              <a:t>Codex Worker、沙箱工作区、模型路由、工具运行时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577840" y="5458968"/>
            <a:ext cx="0" cy="265176"/>
          </a:xfrm>
          <a:prstGeom prst="line">
            <a:avLst/>
          </a:prstGeom>
          <a:ln w="13970">
            <a:solidFill>
              <a:srgbClr val="52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14400" y="5733288"/>
            <a:ext cx="9326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5733288"/>
            <a:ext cx="1600200" cy="713232"/>
          </a:xfrm>
          <a:prstGeom prst="rect">
            <a:avLst/>
          </a:prstGeom>
          <a:solidFill>
            <a:srgbClr val="31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5934456"/>
            <a:ext cx="128016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连接层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5934456"/>
            <a:ext cx="704088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0">
                <a:solidFill>
                  <a:srgbClr val="151B22"/>
                </a:solidFill>
                <a:latin typeface="Microsoft YaHei"/>
              </a:rPr>
              <a:t>MCP / API、Git、CI、知识库、数据库、业务系统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69880" y="2057400"/>
            <a:ext cx="1234440" cy="306324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61904" y="2331720"/>
            <a:ext cx="822960" cy="5486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治理</a:t>
            </a:r>
          </a:p>
          <a:p>
            <a:pPr algn="ctr">
              <a:lnSpc>
                <a:spcPct val="104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控制面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16768" y="3063240"/>
            <a:ext cx="685800" cy="1371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400" b="0">
                <a:solidFill>
                  <a:srgbClr val="E0E8EF"/>
                </a:solidFill>
                <a:latin typeface="Microsoft YaHei"/>
              </a:rPr>
              <a:t>RBAC</a:t>
            </a:r>
          </a:p>
          <a:p>
            <a:pPr algn="ctr">
              <a:lnSpc>
                <a:spcPct val="104000"/>
              </a:lnSpc>
            </a:pPr>
            <a:r>
              <a:rPr sz="1400" b="0">
                <a:solidFill>
                  <a:srgbClr val="E0E8EF"/>
                </a:solidFill>
                <a:latin typeface="Microsoft YaHei"/>
              </a:rPr>
              <a:t>策略</a:t>
            </a:r>
          </a:p>
          <a:p>
            <a:pPr algn="ctr">
              <a:lnSpc>
                <a:spcPct val="104000"/>
              </a:lnSpc>
            </a:pPr>
            <a:r>
              <a:rPr sz="1400" b="0">
                <a:solidFill>
                  <a:srgbClr val="E0E8EF"/>
                </a:solidFill>
                <a:latin typeface="Microsoft YaHei"/>
              </a:rPr>
              <a:t>审计</a:t>
            </a:r>
          </a:p>
          <a:p>
            <a:pPr algn="ctr">
              <a:lnSpc>
                <a:spcPct val="104000"/>
              </a:lnSpc>
            </a:pPr>
            <a:r>
              <a:rPr sz="1400" b="0">
                <a:solidFill>
                  <a:srgbClr val="E0E8EF"/>
                </a:solidFill>
                <a:latin typeface="Microsoft YaHei"/>
              </a:rPr>
              <a:t>成本</a:t>
            </a:r>
          </a:p>
          <a:p>
            <a:pPr algn="ctr">
              <a:lnSpc>
                <a:spcPct val="104000"/>
              </a:lnSpc>
            </a:pPr>
            <a:r>
              <a:rPr sz="1400" b="0">
                <a:solidFill>
                  <a:srgbClr val="E0E8EF"/>
                </a:solidFill>
                <a:latin typeface="Microsoft YaHei"/>
              </a:rPr>
              <a:t>风险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73952"/>
            <a:ext cx="594360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525E6C"/>
                </a:solidFill>
                <a:latin typeface="Microsoft YaHei"/>
              </a:rPr>
              <a:t>Codex 二次开发用于企业级 Agent 平台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" y="320040"/>
            <a:ext cx="283464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502920"/>
            <a:ext cx="804672" cy="73152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789920" cy="43891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2900" b="1">
                <a:solidFill>
                  <a:srgbClr val="151B22"/>
                </a:solidFill>
                <a:latin typeface="Microsoft YaHei"/>
              </a:rPr>
              <a:t>Codex 二次开发入口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170432"/>
            <a:ext cx="1014984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0">
                <a:solidFill>
                  <a:srgbClr val="525E6C"/>
                </a:solidFill>
                <a:latin typeface="Microsoft YaHei"/>
              </a:rPr>
              <a:t>把能力拆成可配置、可审计、可复用的工程接口。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10927080" cy="13716"/>
          </a:xfrm>
          <a:prstGeom prst="rect">
            <a:avLst/>
          </a:prstGeom>
          <a:solidFill>
            <a:srgbClr val="D3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28800"/>
            <a:ext cx="3310128" cy="1353312"/>
          </a:xfrm>
          <a:prstGeom prst="rect">
            <a:avLst/>
          </a:prstGeom>
          <a:solidFill>
            <a:srgbClr val="E1F3F1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828800"/>
            <a:ext cx="91440" cy="1353312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1993392"/>
            <a:ext cx="2898648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750" b="1">
                <a:solidFill>
                  <a:srgbClr val="151B22"/>
                </a:solidFill>
                <a:latin typeface="Microsoft YaHei"/>
              </a:rPr>
              <a:t>指令模板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404872"/>
            <a:ext cx="2898648" cy="6949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0">
                <a:solidFill>
                  <a:srgbClr val="525E6C"/>
                </a:solidFill>
                <a:latin typeface="Microsoft YaHei"/>
              </a:rPr>
              <a:t>企业角色、输出格式、验收标准、风险边界。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8848" y="1828800"/>
            <a:ext cx="3310128" cy="1353312"/>
          </a:xfrm>
          <a:prstGeom prst="rect">
            <a:avLst/>
          </a:prstGeom>
          <a:solidFill>
            <a:srgbClr val="E4EDFA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1828800"/>
            <a:ext cx="91440" cy="1353312"/>
          </a:xfrm>
          <a:prstGeom prst="rect">
            <a:avLst/>
          </a:prstGeom>
          <a:solidFill>
            <a:srgbClr val="31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1993392"/>
            <a:ext cx="2898648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750" b="1">
                <a:solidFill>
                  <a:srgbClr val="151B22"/>
                </a:solidFill>
                <a:latin typeface="Microsoft YaHei"/>
              </a:rPr>
              <a:t>项目上下文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404872"/>
            <a:ext cx="2898648" cy="6949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0">
                <a:solidFill>
                  <a:srgbClr val="525E6C"/>
                </a:solidFill>
                <a:latin typeface="Microsoft YaHei"/>
              </a:rPr>
              <a:t>仓库规范、工作区文件、检索结果、历史决策。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1828800"/>
            <a:ext cx="3310128" cy="1353312"/>
          </a:xfrm>
          <a:prstGeom prst="rect">
            <a:avLst/>
          </a:prstGeom>
          <a:solidFill>
            <a:srgbClr val="FAEDE2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47888" y="1828800"/>
            <a:ext cx="91440" cy="1353312"/>
          </a:xfrm>
          <a:prstGeom prst="rect">
            <a:avLst/>
          </a:prstGeom>
          <a:solidFill>
            <a:srgbClr val="C67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6488" y="1993392"/>
            <a:ext cx="2898648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750" b="1">
                <a:solidFill>
                  <a:srgbClr val="151B22"/>
                </a:solidFill>
                <a:latin typeface="Microsoft YaHei"/>
              </a:rPr>
              <a:t>Skills / 插件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2404872"/>
            <a:ext cx="2898648" cy="6949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0">
                <a:solidFill>
                  <a:srgbClr val="525E6C"/>
                </a:solidFill>
                <a:latin typeface="Microsoft YaHei"/>
              </a:rPr>
              <a:t>发布检查、代码审查、报表生成等复用流程。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3657600"/>
            <a:ext cx="3310128" cy="1353312"/>
          </a:xfrm>
          <a:prstGeom prst="rect">
            <a:avLst/>
          </a:prstGeom>
          <a:solidFill>
            <a:srgbClr val="E5F4E9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3657600"/>
            <a:ext cx="91440" cy="1353312"/>
          </a:xfrm>
          <a:prstGeom prst="rect">
            <a:avLst/>
          </a:prstGeom>
          <a:solidFill>
            <a:srgbClr val="3D9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7" y="3822191"/>
            <a:ext cx="2898648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750" b="1">
                <a:solidFill>
                  <a:srgbClr val="151B22"/>
                </a:solidFill>
                <a:latin typeface="Microsoft YaHei"/>
              </a:rPr>
              <a:t>MCP / 连接器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7" y="4233672"/>
            <a:ext cx="2898648" cy="6949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0">
                <a:solidFill>
                  <a:srgbClr val="525E6C"/>
                </a:solidFill>
                <a:latin typeface="Microsoft YaHei"/>
              </a:rPr>
              <a:t>连接 Git、知识库、数据库、工单和内部服务。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98848" y="3657600"/>
            <a:ext cx="3310128" cy="1353312"/>
          </a:xfrm>
          <a:prstGeom prst="rect">
            <a:avLst/>
          </a:prstGeom>
          <a:solidFill>
            <a:srgbClr val="FAE7E7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98848" y="3657600"/>
            <a:ext cx="91440" cy="1353312"/>
          </a:xfrm>
          <a:prstGeom prst="rect">
            <a:avLst/>
          </a:prstGeom>
          <a:solidFill>
            <a:srgbClr val="BC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27448" y="3822191"/>
            <a:ext cx="2898648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750" b="1">
                <a:solidFill>
                  <a:srgbClr val="151B22"/>
                </a:solidFill>
                <a:latin typeface="Microsoft YaHei"/>
              </a:rPr>
              <a:t>Hooks / 策略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4233672"/>
            <a:ext cx="2898648" cy="6949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0">
                <a:solidFill>
                  <a:srgbClr val="525E6C"/>
                </a:solidFill>
                <a:latin typeface="Microsoft YaHei"/>
              </a:rPr>
              <a:t>工具调用、文件编辑、提交前后的校验与审计。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3657600"/>
            <a:ext cx="3310128" cy="1353312"/>
          </a:xfrm>
          <a:prstGeom prst="rect">
            <a:avLst/>
          </a:prstGeom>
          <a:solidFill>
            <a:srgbClr val="EFEBF9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47888" y="3657600"/>
            <a:ext cx="91440" cy="1353312"/>
          </a:xfrm>
          <a:prstGeom prst="rect">
            <a:avLst/>
          </a:prstGeom>
          <a:solidFill>
            <a:srgbClr val="6D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76488" y="3822191"/>
            <a:ext cx="2898648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750" b="1">
                <a:solidFill>
                  <a:srgbClr val="151B22"/>
                </a:solidFill>
                <a:latin typeface="Microsoft YaHei"/>
              </a:rPr>
              <a:t>Worker Runtime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6488" y="4233672"/>
            <a:ext cx="2898648" cy="6949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0">
                <a:solidFill>
                  <a:srgbClr val="525E6C"/>
                </a:solidFill>
                <a:latin typeface="Microsoft YaHei"/>
              </a:rPr>
              <a:t>独立工作区、模型配置、资源预算、工具白名单。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73952"/>
            <a:ext cx="594360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525E6C"/>
                </a:solidFill>
                <a:latin typeface="Microsoft YaHei"/>
              </a:rPr>
              <a:t>Codex 二次开发用于企业级 Agent 平台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" y="320040"/>
            <a:ext cx="283464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502920"/>
            <a:ext cx="804672" cy="73152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789920" cy="43891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2900" b="1">
                <a:solidFill>
                  <a:srgbClr val="151B22"/>
                </a:solidFill>
                <a:latin typeface="Microsoft YaHei"/>
              </a:rPr>
              <a:t>任务生命周期与用户介入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170432"/>
            <a:ext cx="1014984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0">
                <a:solidFill>
                  <a:srgbClr val="525E6C"/>
                </a:solidFill>
                <a:latin typeface="Microsoft YaHei"/>
              </a:rPr>
              <a:t>Human-in-the-Loop 应该是可配置的治理机制，而不是临时弹窗。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10927080" cy="13716"/>
          </a:xfrm>
          <a:prstGeom prst="rect">
            <a:avLst/>
          </a:prstGeom>
          <a:solidFill>
            <a:srgbClr val="D3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1737360" cy="1051560"/>
          </a:xfrm>
          <a:prstGeom prst="rect">
            <a:avLst/>
          </a:prstGeom>
          <a:solidFill>
            <a:srgbClr val="FFFFFF"/>
          </a:solidFill>
          <a:ln w="17780">
            <a:solidFill>
              <a:srgbClr val="128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84831"/>
            <a:ext cx="146304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>
                <a:solidFill>
                  <a:srgbClr val="128982"/>
                </a:solidFill>
                <a:latin typeface="Microsoft YaHei"/>
              </a:rPr>
              <a:t>请求接入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32304"/>
            <a:ext cx="1517904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20" b="0">
                <a:solidFill>
                  <a:srgbClr val="525E6C"/>
                </a:solidFill>
                <a:latin typeface="Microsoft YaHei"/>
              </a:rPr>
              <a:t>识别用户/项目/风险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14600" y="2404872"/>
            <a:ext cx="475488" cy="0"/>
          </a:xfrm>
          <a:prstGeom prst="line">
            <a:avLst/>
          </a:prstGeom>
          <a:ln w="13970">
            <a:solidFill>
              <a:srgbClr val="52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044952" y="1874519"/>
            <a:ext cx="1737360" cy="1051560"/>
          </a:xfrm>
          <a:prstGeom prst="rect">
            <a:avLst/>
          </a:prstGeom>
          <a:solidFill>
            <a:srgbClr val="FFFFFF"/>
          </a:solidFill>
          <a:ln w="17780">
            <a:solidFill>
              <a:srgbClr val="C67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82112" y="2084831"/>
            <a:ext cx="146304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>
                <a:solidFill>
                  <a:srgbClr val="C67034"/>
                </a:solidFill>
                <a:latin typeface="Microsoft YaHei"/>
              </a:rPr>
              <a:t>计划生成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432304"/>
            <a:ext cx="1517904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20" b="0">
                <a:solidFill>
                  <a:srgbClr val="525E6C"/>
                </a:solidFill>
                <a:latin typeface="Microsoft YaHei"/>
              </a:rPr>
              <a:t>形成步骤和审批点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82312" y="2404872"/>
            <a:ext cx="475488" cy="0"/>
          </a:xfrm>
          <a:prstGeom prst="line">
            <a:avLst/>
          </a:prstGeom>
          <a:ln w="13970">
            <a:solidFill>
              <a:srgbClr val="52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312664" y="1874519"/>
            <a:ext cx="1737360" cy="1051560"/>
          </a:xfrm>
          <a:prstGeom prst="rect">
            <a:avLst/>
          </a:prstGeom>
          <a:solidFill>
            <a:srgbClr val="FFFFFF"/>
          </a:solidFill>
          <a:ln w="17780">
            <a:solidFill>
              <a:srgbClr val="3D9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9824" y="2084831"/>
            <a:ext cx="146304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>
                <a:solidFill>
                  <a:srgbClr val="3D9159"/>
                </a:solidFill>
                <a:latin typeface="Microsoft YaHei"/>
              </a:rPr>
              <a:t>沙箱执行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2392" y="2432304"/>
            <a:ext cx="1517904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20" b="0">
                <a:solidFill>
                  <a:srgbClr val="525E6C"/>
                </a:solidFill>
                <a:latin typeface="Microsoft YaHei"/>
              </a:rPr>
              <a:t>读写代码、跑测试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50023" y="2404872"/>
            <a:ext cx="475489" cy="0"/>
          </a:xfrm>
          <a:prstGeom prst="line">
            <a:avLst/>
          </a:prstGeom>
          <a:ln w="13970">
            <a:solidFill>
              <a:srgbClr val="52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580375" y="1874519"/>
            <a:ext cx="1737360" cy="1051560"/>
          </a:xfrm>
          <a:prstGeom prst="rect">
            <a:avLst/>
          </a:prstGeom>
          <a:solidFill>
            <a:srgbClr val="FFFFFF"/>
          </a:solidFill>
          <a:ln w="17780">
            <a:solidFill>
              <a:srgbClr val="BC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17536" y="2084831"/>
            <a:ext cx="146304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>
                <a:solidFill>
                  <a:srgbClr val="BC4242"/>
                </a:solidFill>
                <a:latin typeface="Microsoft YaHei"/>
              </a:rPr>
              <a:t>人工确认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0103" y="2432304"/>
            <a:ext cx="1517904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20" b="0">
                <a:solidFill>
                  <a:srgbClr val="525E6C"/>
                </a:solidFill>
                <a:latin typeface="Microsoft YaHei"/>
              </a:rPr>
              <a:t>审批高风险动作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17736" y="2404872"/>
            <a:ext cx="475488" cy="0"/>
          </a:xfrm>
          <a:prstGeom prst="line">
            <a:avLst/>
          </a:prstGeom>
          <a:ln w="13970">
            <a:solidFill>
              <a:srgbClr val="52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848088" y="1874519"/>
            <a:ext cx="1737360" cy="1051560"/>
          </a:xfrm>
          <a:prstGeom prst="rect">
            <a:avLst/>
          </a:prstGeom>
          <a:solidFill>
            <a:srgbClr val="FFFFFF"/>
          </a:solidFill>
          <a:ln w="17780">
            <a:solidFill>
              <a:srgbClr val="316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85248" y="2084831"/>
            <a:ext cx="146304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>
                <a:solidFill>
                  <a:srgbClr val="3169B5"/>
                </a:solidFill>
                <a:latin typeface="Microsoft YaHei"/>
              </a:rPr>
              <a:t>交付归档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57815" y="2432304"/>
            <a:ext cx="1517904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20" b="0">
                <a:solidFill>
                  <a:srgbClr val="525E6C"/>
                </a:solidFill>
                <a:latin typeface="Microsoft YaHei"/>
              </a:rPr>
              <a:t>diff、日志、回滚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3886200"/>
            <a:ext cx="3456432" cy="1325880"/>
          </a:xfrm>
          <a:prstGeom prst="rect">
            <a:avLst/>
          </a:prstGeom>
          <a:solidFill>
            <a:srgbClr val="FAE7E7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3886200"/>
            <a:ext cx="91440" cy="1325880"/>
          </a:xfrm>
          <a:prstGeom prst="rect">
            <a:avLst/>
          </a:prstGeom>
          <a:solidFill>
            <a:srgbClr val="BC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4050791"/>
            <a:ext cx="3044951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700" b="1">
                <a:solidFill>
                  <a:srgbClr val="151B22"/>
                </a:solidFill>
                <a:latin typeface="Microsoft YaHei"/>
              </a:rPr>
              <a:t>触发人工介入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462272"/>
            <a:ext cx="3044951" cy="66751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330" b="0">
                <a:solidFill>
                  <a:srgbClr val="525E6C"/>
                </a:solidFill>
                <a:latin typeface="Microsoft YaHei"/>
              </a:rPr>
              <a:t>计划影响范围不清；删除、发布、权限变更；外部提交；缺少关键事实；高风险代码变更。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98848" y="3886200"/>
            <a:ext cx="3456432" cy="1325880"/>
          </a:xfrm>
          <a:prstGeom prst="rect">
            <a:avLst/>
          </a:prstGeom>
          <a:solidFill>
            <a:srgbClr val="FAEDE2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98848" y="3886200"/>
            <a:ext cx="91440" cy="1325880"/>
          </a:xfrm>
          <a:prstGeom prst="rect">
            <a:avLst/>
          </a:prstGeom>
          <a:solidFill>
            <a:srgbClr val="C67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27448" y="4050791"/>
            <a:ext cx="3044951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700" b="1">
                <a:solidFill>
                  <a:srgbClr val="151B22"/>
                </a:solidFill>
                <a:latin typeface="Microsoft YaHei"/>
              </a:rPr>
              <a:t>平台动作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27448" y="4462272"/>
            <a:ext cx="3044951" cy="66751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330" b="0">
                <a:solidFill>
                  <a:srgbClr val="525E6C"/>
                </a:solidFill>
                <a:latin typeface="Microsoft YaHei"/>
              </a:rPr>
              <a:t>暂停任务、展示上下文、记录审批人和理由、允许继续/改计划/取消。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74736" y="3886200"/>
            <a:ext cx="3017520" cy="1325880"/>
          </a:xfrm>
          <a:prstGeom prst="rect">
            <a:avLst/>
          </a:prstGeom>
          <a:solidFill>
            <a:srgbClr val="E1F3F1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74736" y="3886200"/>
            <a:ext cx="91440" cy="1325880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03336" y="4050791"/>
            <a:ext cx="2606039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700" b="1">
                <a:solidFill>
                  <a:srgbClr val="151B22"/>
                </a:solidFill>
                <a:latin typeface="Microsoft YaHei"/>
              </a:rPr>
              <a:t>Codex 行为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03336" y="4462272"/>
            <a:ext cx="2606039" cy="66751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330" b="0">
                <a:solidFill>
                  <a:srgbClr val="525E6C"/>
                </a:solidFill>
                <a:latin typeface="Microsoft YaHei"/>
              </a:rPr>
              <a:t>等待反馈；不猜测关键事实；只在授权范围内继续执行。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473952"/>
            <a:ext cx="594360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525E6C"/>
                </a:solidFill>
                <a:latin typeface="Microsoft YaHei"/>
              </a:rPr>
              <a:t>Codex 二次开发用于企业级 Agent 平台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" y="320040"/>
            <a:ext cx="283464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502920"/>
            <a:ext cx="804672" cy="73152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789920" cy="43891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2900" b="1">
                <a:solidFill>
                  <a:srgbClr val="151B22"/>
                </a:solidFill>
                <a:latin typeface="Microsoft YaHei"/>
              </a:rPr>
              <a:t>多用户、多并发、多轮会话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170432"/>
            <a:ext cx="1014984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0">
                <a:solidFill>
                  <a:srgbClr val="525E6C"/>
                </a:solidFill>
                <a:latin typeface="Microsoft YaHei"/>
              </a:rPr>
              <a:t>并发能力来自平台调度；会话能力来自受控上下文管理。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10927080" cy="13716"/>
          </a:xfrm>
          <a:prstGeom prst="rect">
            <a:avLst/>
          </a:prstGeom>
          <a:solidFill>
            <a:srgbClr val="D3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3246120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28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93392"/>
            <a:ext cx="2916936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2200" b="1">
                <a:solidFill>
                  <a:srgbClr val="128982"/>
                </a:solidFill>
                <a:latin typeface="Microsoft YaHei"/>
              </a:rPr>
              <a:t>Tenant / User /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432304"/>
            <a:ext cx="2916936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0">
                <a:solidFill>
                  <a:srgbClr val="525E6C"/>
                </a:solidFill>
                <a:latin typeface="Microsoft YaHei"/>
              </a:rPr>
              <a:t>多用户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3246120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C67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993392"/>
            <a:ext cx="2916936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2200" b="1">
                <a:solidFill>
                  <a:srgbClr val="C67034"/>
                </a:solidFill>
                <a:latin typeface="Microsoft YaHei"/>
              </a:rPr>
              <a:t>Queue / Scheduler / Worker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432304"/>
            <a:ext cx="2916936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0">
                <a:solidFill>
                  <a:srgbClr val="525E6C"/>
                </a:solidFill>
                <a:latin typeface="Microsoft YaHei"/>
              </a:rPr>
              <a:t>多并发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3246120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6D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993392"/>
            <a:ext cx="2916936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2200" b="1">
                <a:solidFill>
                  <a:srgbClr val="6D5BAA"/>
                </a:solidFill>
                <a:latin typeface="Microsoft YaHei"/>
              </a:rPr>
              <a:t>Session / Task /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432304"/>
            <a:ext cx="2916936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0">
                <a:solidFill>
                  <a:srgbClr val="525E6C"/>
                </a:solidFill>
                <a:latin typeface="Microsoft YaHei"/>
              </a:rPr>
              <a:t>多轮会话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" y="3822191"/>
            <a:ext cx="109728" cy="109728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43584" y="3703320"/>
            <a:ext cx="10030968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620" b="0">
                <a:solidFill>
                  <a:srgbClr val="151B22"/>
                </a:solidFill>
                <a:latin typeface="Microsoft YaHei"/>
              </a:rPr>
              <a:t>每个任务独立工作区，密钥、文件、工具权限按租户和项目隔离。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" y="4407407"/>
            <a:ext cx="109728" cy="109728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43584" y="4288536"/>
            <a:ext cx="10030968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620" b="0">
                <a:solidFill>
                  <a:srgbClr val="151B22"/>
                </a:solidFill>
                <a:latin typeface="Microsoft YaHei"/>
              </a:rPr>
              <a:t>队列按租户配额、优先级、风险等级和 SLA 调度，支持取消、恢复、重试。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" y="4992623"/>
            <a:ext cx="109728" cy="109728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43584" y="4873751"/>
            <a:ext cx="10030968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620" b="0">
                <a:solidFill>
                  <a:srgbClr val="151B22"/>
                </a:solidFill>
                <a:latin typeface="Microsoft YaHei"/>
              </a:rPr>
              <a:t>多轮上下文不无限追加：摘要、检索、权限过滤、checkpoint 分层管理。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73952"/>
            <a:ext cx="594360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525E6C"/>
                </a:solidFill>
                <a:latin typeface="Microsoft YaHei"/>
              </a:rPr>
              <a:t>Codex 二次开发用于企业级 Agent 平台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" y="320040"/>
            <a:ext cx="283464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502920"/>
            <a:ext cx="804672" cy="73152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789920" cy="43891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2900" b="1">
                <a:solidFill>
                  <a:srgbClr val="151B22"/>
                </a:solidFill>
                <a:latin typeface="Microsoft YaHei"/>
              </a:rPr>
              <a:t>外部系统连接与入口开发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170432"/>
            <a:ext cx="1014984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0">
                <a:solidFill>
                  <a:srgbClr val="525E6C"/>
                </a:solidFill>
                <a:latin typeface="Microsoft YaHei"/>
              </a:rPr>
              <a:t>统一注册工具和入口协议，避免每个 Agent 各写一套临时脚本。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10927080" cy="13716"/>
          </a:xfrm>
          <a:prstGeom prst="rect">
            <a:avLst/>
          </a:prstGeom>
          <a:solidFill>
            <a:srgbClr val="D3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26280" y="2423160"/>
            <a:ext cx="2971800" cy="105156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651760"/>
            <a:ext cx="242316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Tool Registry</a:t>
            </a:r>
          </a:p>
          <a:p>
            <a:pPr algn="ctr">
              <a:lnSpc>
                <a:spcPct val="104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MCP / API Gateway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691640"/>
            <a:ext cx="1993392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128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856232"/>
            <a:ext cx="1773936" cy="1463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350" b="1">
                <a:solidFill>
                  <a:srgbClr val="128982"/>
                </a:solidFill>
                <a:latin typeface="Microsoft YaHei"/>
              </a:rPr>
              <a:t>Git / PR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11095" y="2313432"/>
            <a:ext cx="4096513" cy="630936"/>
          </a:xfrm>
          <a:prstGeom prst="line">
            <a:avLst/>
          </a:prstGeom>
          <a:ln w="11430">
            <a:solidFill>
              <a:srgbClr val="52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794760" y="1417320"/>
            <a:ext cx="1993392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C67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4488" y="1581912"/>
            <a:ext cx="1773936" cy="1463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350" b="1">
                <a:solidFill>
                  <a:srgbClr val="C67034"/>
                </a:solidFill>
                <a:latin typeface="Microsoft YaHei"/>
              </a:rPr>
              <a:t>CI/CD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91456" y="2039112"/>
            <a:ext cx="1216152" cy="905256"/>
          </a:xfrm>
          <a:prstGeom prst="line">
            <a:avLst/>
          </a:prstGeom>
          <a:ln w="11430">
            <a:solidFill>
              <a:srgbClr val="52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269480" y="1417320"/>
            <a:ext cx="1993392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6D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9208" y="1581912"/>
            <a:ext cx="1773936" cy="1463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350" b="1">
                <a:solidFill>
                  <a:srgbClr val="6D5BAA"/>
                </a:solidFill>
                <a:latin typeface="Microsoft YaHei"/>
              </a:rPr>
              <a:t>知识库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007608" y="2039112"/>
            <a:ext cx="2258568" cy="905256"/>
          </a:xfrm>
          <a:prstGeom prst="line">
            <a:avLst/>
          </a:prstGeom>
          <a:ln w="11430">
            <a:solidFill>
              <a:srgbClr val="52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326880" y="2240280"/>
            <a:ext cx="1993392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3D9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36607" y="2404872"/>
            <a:ext cx="1773936" cy="1463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350" b="1">
                <a:solidFill>
                  <a:srgbClr val="3D9159"/>
                </a:solidFill>
                <a:latin typeface="Microsoft YaHei"/>
              </a:rPr>
              <a:t>工单系统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007608" y="2862072"/>
            <a:ext cx="4315968" cy="82296"/>
          </a:xfrm>
          <a:prstGeom prst="line">
            <a:avLst/>
          </a:prstGeom>
          <a:ln w="11430">
            <a:solidFill>
              <a:srgbClr val="52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818120" y="4617720"/>
            <a:ext cx="1993392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316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7848" y="4782312"/>
            <a:ext cx="1773936" cy="1463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350" b="1">
                <a:solidFill>
                  <a:srgbClr val="3169B5"/>
                </a:solidFill>
                <a:latin typeface="Microsoft YaHei"/>
              </a:rPr>
              <a:t>数据库 / 日志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6007608" y="2944368"/>
            <a:ext cx="2807208" cy="1673352"/>
          </a:xfrm>
          <a:prstGeom prst="line">
            <a:avLst/>
          </a:prstGeom>
          <a:ln w="11430">
            <a:solidFill>
              <a:srgbClr val="52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971800" y="4617720"/>
            <a:ext cx="1993392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BC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81528" y="4782312"/>
            <a:ext cx="1773936" cy="1463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350" b="1">
                <a:solidFill>
                  <a:srgbClr val="BC4242"/>
                </a:solidFill>
                <a:latin typeface="Microsoft YaHei"/>
              </a:rPr>
              <a:t>业务 API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3968496" y="2944368"/>
            <a:ext cx="2039112" cy="1673352"/>
          </a:xfrm>
          <a:prstGeom prst="line">
            <a:avLst/>
          </a:prstGeom>
          <a:ln w="11430">
            <a:solidFill>
              <a:srgbClr val="52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68680" y="3429000"/>
            <a:ext cx="1993392" cy="621792"/>
          </a:xfrm>
          <a:prstGeom prst="rect">
            <a:avLst/>
          </a:prstGeom>
          <a:solidFill>
            <a:srgbClr val="FFFFFF"/>
          </a:solidFill>
          <a:ln w="15240">
            <a:solidFill>
              <a:srgbClr val="525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7" y="3593592"/>
            <a:ext cx="1773936" cy="1463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350" b="1">
                <a:solidFill>
                  <a:srgbClr val="525E6C"/>
                </a:solidFill>
                <a:latin typeface="Microsoft YaHei"/>
              </a:rPr>
              <a:t>WPS / 浏览器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1865376" y="2944368"/>
            <a:ext cx="4142232" cy="484632"/>
          </a:xfrm>
          <a:prstGeom prst="line">
            <a:avLst/>
          </a:prstGeom>
          <a:ln w="11430">
            <a:solidFill>
              <a:srgbClr val="525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22960" y="5532120"/>
            <a:ext cx="10561320" cy="502920"/>
          </a:xfrm>
          <a:prstGeom prst="rect">
            <a:avLst/>
          </a:prstGeom>
          <a:solidFill>
            <a:srgbClr val="E1F3F1"/>
          </a:solidFill>
          <a:ln w="12700">
            <a:solidFill>
              <a:srgbClr val="128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669280"/>
            <a:ext cx="1010412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400" b="1">
                <a:solidFill>
                  <a:srgbClr val="151B22"/>
                </a:solidFill>
                <a:latin typeface="Microsoft YaHei"/>
              </a:rPr>
              <a:t>每个工具声明 schema、权限范围、幂等键、超时、重试、审计字段和敏感字段脱敏规则。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73952"/>
            <a:ext cx="594360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525E6C"/>
                </a:solidFill>
                <a:latin typeface="Microsoft YaHei"/>
              </a:rPr>
              <a:t>Codex 二次开发用于企业级 Agent 平台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" y="320040"/>
            <a:ext cx="283464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502920"/>
            <a:ext cx="804672" cy="73152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789920" cy="43891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2900" b="1">
                <a:solidFill>
                  <a:srgbClr val="151B22"/>
                </a:solidFill>
                <a:latin typeface="Microsoft YaHei"/>
              </a:rPr>
              <a:t>安全与合规设计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170432"/>
            <a:ext cx="1014984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0">
                <a:solidFill>
                  <a:srgbClr val="525E6C"/>
                </a:solidFill>
                <a:latin typeface="Microsoft YaHei"/>
              </a:rPr>
              <a:t>把 Agent 当成受控执行主体，而不是可信管理员。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10927080" cy="13716"/>
          </a:xfrm>
          <a:prstGeom prst="rect">
            <a:avLst/>
          </a:prstGeom>
          <a:solidFill>
            <a:srgbClr val="D3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47088"/>
            <a:ext cx="3310128" cy="1234440"/>
          </a:xfrm>
          <a:prstGeom prst="rect">
            <a:avLst/>
          </a:prstGeom>
          <a:solidFill>
            <a:srgbClr val="E1F3F1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847088"/>
            <a:ext cx="91440" cy="1234440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011680"/>
            <a:ext cx="2898648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800" b="1">
                <a:solidFill>
                  <a:srgbClr val="151B22"/>
                </a:solidFill>
                <a:latin typeface="Microsoft YaHei"/>
              </a:rPr>
              <a:t>身份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423160"/>
            <a:ext cx="2898648" cy="57607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20" b="0">
                <a:solidFill>
                  <a:srgbClr val="525E6C"/>
                </a:solidFill>
                <a:latin typeface="Microsoft YaHei"/>
              </a:rPr>
              <a:t>SSO / MFA</a:t>
            </a:r>
          </a:p>
          <a:p>
            <a:pPr algn="l">
              <a:lnSpc>
                <a:spcPct val="104000"/>
              </a:lnSpc>
            </a:pPr>
            <a:r>
              <a:rPr sz="1420" b="0">
                <a:solidFill>
                  <a:srgbClr val="525E6C"/>
                </a:solidFill>
                <a:latin typeface="Microsoft YaHei"/>
              </a:rPr>
              <a:t>租户与角色映射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8848" y="1847088"/>
            <a:ext cx="3310128" cy="1234440"/>
          </a:xfrm>
          <a:prstGeom prst="rect">
            <a:avLst/>
          </a:prstGeom>
          <a:solidFill>
            <a:srgbClr val="EFEBF9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1847088"/>
            <a:ext cx="91440" cy="1234440"/>
          </a:xfrm>
          <a:prstGeom prst="rect">
            <a:avLst/>
          </a:prstGeom>
          <a:solidFill>
            <a:srgbClr val="6D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2011680"/>
            <a:ext cx="2898648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800" b="1">
                <a:solidFill>
                  <a:srgbClr val="151B22"/>
                </a:solidFill>
                <a:latin typeface="Microsoft YaHei"/>
              </a:rPr>
              <a:t>权限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423160"/>
            <a:ext cx="2898648" cy="57607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20" b="0">
                <a:solidFill>
                  <a:srgbClr val="525E6C"/>
                </a:solidFill>
                <a:latin typeface="Microsoft YaHei"/>
              </a:rPr>
              <a:t>RBAC + ABAC</a:t>
            </a:r>
          </a:p>
          <a:p>
            <a:pPr algn="l">
              <a:lnSpc>
                <a:spcPct val="104000"/>
              </a:lnSpc>
            </a:pPr>
            <a:r>
              <a:rPr sz="1420" b="0">
                <a:solidFill>
                  <a:srgbClr val="525E6C"/>
                </a:solidFill>
                <a:latin typeface="Microsoft YaHei"/>
              </a:rPr>
              <a:t>工具白名单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1847088"/>
            <a:ext cx="3310128" cy="1234440"/>
          </a:xfrm>
          <a:prstGeom prst="rect">
            <a:avLst/>
          </a:prstGeom>
          <a:solidFill>
            <a:srgbClr val="FAEDE2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47888" y="1847088"/>
            <a:ext cx="91440" cy="1234440"/>
          </a:xfrm>
          <a:prstGeom prst="rect">
            <a:avLst/>
          </a:prstGeom>
          <a:solidFill>
            <a:srgbClr val="C67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6488" y="2011680"/>
            <a:ext cx="2898648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800" b="1">
                <a:solidFill>
                  <a:srgbClr val="151B22"/>
                </a:solidFill>
                <a:latin typeface="Microsoft YaHei"/>
              </a:rPr>
              <a:t>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2423160"/>
            <a:ext cx="2898648" cy="57607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20" b="0">
                <a:solidFill>
                  <a:srgbClr val="525E6C"/>
                </a:solidFill>
                <a:latin typeface="Microsoft YaHei"/>
              </a:rPr>
              <a:t>脱敏 / DLP</a:t>
            </a:r>
          </a:p>
          <a:p>
            <a:pPr algn="l">
              <a:lnSpc>
                <a:spcPct val="104000"/>
              </a:lnSpc>
            </a:pPr>
            <a:r>
              <a:rPr sz="1420" b="0">
                <a:solidFill>
                  <a:srgbClr val="525E6C"/>
                </a:solidFill>
                <a:latin typeface="Microsoft YaHei"/>
              </a:rPr>
              <a:t>密钥托管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3511296"/>
            <a:ext cx="3310128" cy="1234440"/>
          </a:xfrm>
          <a:prstGeom prst="rect">
            <a:avLst/>
          </a:prstGeom>
          <a:solidFill>
            <a:srgbClr val="E5F4E9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3511296"/>
            <a:ext cx="91440" cy="1234440"/>
          </a:xfrm>
          <a:prstGeom prst="rect">
            <a:avLst/>
          </a:prstGeom>
          <a:solidFill>
            <a:srgbClr val="3D9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7" y="3675887"/>
            <a:ext cx="2898648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800" b="1">
                <a:solidFill>
                  <a:srgbClr val="151B22"/>
                </a:solidFill>
                <a:latin typeface="Microsoft YaHei"/>
              </a:rPr>
              <a:t>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7" y="4087368"/>
            <a:ext cx="2898648" cy="57607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20" b="0">
                <a:solidFill>
                  <a:srgbClr val="525E6C"/>
                </a:solidFill>
                <a:latin typeface="Microsoft YaHei"/>
              </a:rPr>
              <a:t>沙箱 / 网络策略</a:t>
            </a:r>
          </a:p>
          <a:p>
            <a:pPr algn="l">
              <a:lnSpc>
                <a:spcPct val="104000"/>
              </a:lnSpc>
            </a:pPr>
            <a:r>
              <a:rPr sz="1420" b="0">
                <a:solidFill>
                  <a:srgbClr val="525E6C"/>
                </a:solidFill>
                <a:latin typeface="Microsoft YaHei"/>
              </a:rPr>
              <a:t>危险动作阻断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98848" y="3511296"/>
            <a:ext cx="3310128" cy="1234440"/>
          </a:xfrm>
          <a:prstGeom prst="rect">
            <a:avLst/>
          </a:prstGeom>
          <a:solidFill>
            <a:srgbClr val="E4EDFA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98848" y="3511296"/>
            <a:ext cx="91440" cy="1234440"/>
          </a:xfrm>
          <a:prstGeom prst="rect">
            <a:avLst/>
          </a:prstGeom>
          <a:solidFill>
            <a:srgbClr val="3169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27448" y="3675887"/>
            <a:ext cx="2898648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800" b="1">
                <a:solidFill>
                  <a:srgbClr val="151B22"/>
                </a:solidFill>
                <a:latin typeface="Microsoft YaHei"/>
              </a:rPr>
              <a:t>审计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4087368"/>
            <a:ext cx="2898648" cy="57607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20" b="0">
                <a:solidFill>
                  <a:srgbClr val="525E6C"/>
                </a:solidFill>
                <a:latin typeface="Microsoft YaHei"/>
              </a:rPr>
              <a:t>trace / 工具参数</a:t>
            </a:r>
          </a:p>
          <a:p>
            <a:pPr algn="l">
              <a:lnSpc>
                <a:spcPct val="104000"/>
              </a:lnSpc>
            </a:pPr>
            <a:r>
              <a:rPr sz="1420" b="0">
                <a:solidFill>
                  <a:srgbClr val="525E6C"/>
                </a:solidFill>
                <a:latin typeface="Microsoft YaHei"/>
              </a:rPr>
              <a:t>审批记录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3511296"/>
            <a:ext cx="3310128" cy="1234440"/>
          </a:xfrm>
          <a:prstGeom prst="rect">
            <a:avLst/>
          </a:prstGeom>
          <a:solidFill>
            <a:srgbClr val="FAE7E7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47888" y="3511296"/>
            <a:ext cx="91440" cy="1234440"/>
          </a:xfrm>
          <a:prstGeom prst="rect">
            <a:avLst/>
          </a:prstGeom>
          <a:solidFill>
            <a:srgbClr val="BC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76488" y="3675887"/>
            <a:ext cx="2898648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800" b="1">
                <a:solidFill>
                  <a:srgbClr val="151B22"/>
                </a:solidFill>
                <a:latin typeface="Microsoft YaHei"/>
              </a:rPr>
              <a:t>恢复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6488" y="4087368"/>
            <a:ext cx="2898648" cy="57607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20" b="0">
                <a:solidFill>
                  <a:srgbClr val="525E6C"/>
                </a:solidFill>
                <a:latin typeface="Microsoft YaHei"/>
              </a:rPr>
              <a:t>diff 回滚</a:t>
            </a:r>
          </a:p>
          <a:p>
            <a:pPr algn="l">
              <a:lnSpc>
                <a:spcPct val="104000"/>
              </a:lnSpc>
            </a:pPr>
            <a:r>
              <a:rPr sz="1420" b="0">
                <a:solidFill>
                  <a:srgbClr val="525E6C"/>
                </a:solidFill>
                <a:latin typeface="Microsoft YaHei"/>
              </a:rPr>
              <a:t>幂等与接管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5577840"/>
            <a:ext cx="10561320" cy="5029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733288"/>
            <a:ext cx="1010412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420" b="1">
                <a:solidFill>
                  <a:srgbClr val="FFFFFF"/>
                </a:solidFill>
                <a:latin typeface="Microsoft YaHei"/>
              </a:rPr>
              <a:t>关键原则：密钥不进提示词；生产动作不直连；高风险变更强制审批；全部工具调用可审计。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73952"/>
            <a:ext cx="594360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525E6C"/>
                </a:solidFill>
                <a:latin typeface="Microsoft YaHei"/>
              </a:rPr>
              <a:t>Codex 二次开发用于企业级 Agent 平台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" y="320040"/>
            <a:ext cx="283464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502920"/>
            <a:ext cx="804672" cy="73152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789920" cy="43891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2900" b="1">
                <a:solidFill>
                  <a:srgbClr val="151B22"/>
                </a:solidFill>
                <a:latin typeface="Microsoft YaHei"/>
              </a:rPr>
              <a:t>性能与运营指标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170432"/>
            <a:ext cx="1014984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0">
                <a:solidFill>
                  <a:srgbClr val="525E6C"/>
                </a:solidFill>
                <a:latin typeface="Microsoft YaHei"/>
              </a:rPr>
              <a:t>真正要优化的是端到端任务完成能力，而不是单次模型响应时间。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10927080" cy="13716"/>
          </a:xfrm>
          <a:prstGeom prst="rect">
            <a:avLst/>
          </a:prstGeom>
          <a:solidFill>
            <a:srgbClr val="D3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3246120" cy="1508760"/>
          </a:xfrm>
          <a:prstGeom prst="rect">
            <a:avLst/>
          </a:prstGeom>
          <a:solidFill>
            <a:srgbClr val="FAEDE2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91440" cy="1508760"/>
          </a:xfrm>
          <a:prstGeom prst="rect">
            <a:avLst/>
          </a:prstGeom>
          <a:solidFill>
            <a:srgbClr val="C67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993392"/>
            <a:ext cx="2834639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800" b="1">
                <a:solidFill>
                  <a:srgbClr val="151B22"/>
                </a:solidFill>
                <a:latin typeface="Microsoft YaHei"/>
              </a:rPr>
              <a:t>性能优化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04872"/>
            <a:ext cx="2834639" cy="8503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20" b="0">
                <a:solidFill>
                  <a:srgbClr val="525E6C"/>
                </a:solidFill>
                <a:latin typeface="Microsoft YaHei"/>
              </a:rPr>
              <a:t>模型路由、上下文裁剪、依赖缓存、环境预热、工具并行、队列背压。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828800"/>
            <a:ext cx="3246120" cy="1508760"/>
          </a:xfrm>
          <a:prstGeom prst="rect">
            <a:avLst/>
          </a:prstGeom>
          <a:solidFill>
            <a:srgbClr val="E1F3F1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828800"/>
            <a:ext cx="91440" cy="1508760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993392"/>
            <a:ext cx="2834639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800" b="1">
                <a:solidFill>
                  <a:srgbClr val="151B22"/>
                </a:solidFill>
                <a:latin typeface="Microsoft YaHei"/>
              </a:rPr>
              <a:t>质量评估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404872"/>
            <a:ext cx="2834639" cy="8503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20" b="0">
                <a:solidFill>
                  <a:srgbClr val="525E6C"/>
                </a:solidFill>
                <a:latin typeface="Microsoft YaHei"/>
              </a:rPr>
              <a:t>任务成功率、一次通过率、测试通过率、人工接管率、失败归因。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3246120" cy="1508760"/>
          </a:xfrm>
          <a:prstGeom prst="rect">
            <a:avLst/>
          </a:prstGeom>
          <a:solidFill>
            <a:srgbClr val="FAE7E7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91440" cy="1508760"/>
          </a:xfrm>
          <a:prstGeom prst="rect">
            <a:avLst/>
          </a:prstGeom>
          <a:solidFill>
            <a:srgbClr val="BC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993392"/>
            <a:ext cx="2834639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800" b="1">
                <a:solidFill>
                  <a:srgbClr val="151B22"/>
                </a:solidFill>
                <a:latin typeface="Microsoft YaHei"/>
              </a:rPr>
              <a:t>安全运营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404872"/>
            <a:ext cx="2834639" cy="8503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20" b="0">
                <a:solidFill>
                  <a:srgbClr val="525E6C"/>
                </a:solidFill>
                <a:latin typeface="Microsoft YaHei"/>
              </a:rPr>
              <a:t>危险动作拦截、越权访问、敏感数据暴露、审批留痕完整率。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977639"/>
            <a:ext cx="2011680" cy="475488"/>
          </a:xfrm>
          <a:prstGeom prst="rect">
            <a:avLst/>
          </a:prstGeom>
          <a:solidFill>
            <a:srgbClr val="C67034"/>
          </a:solidFill>
          <a:ln w="1270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4087368"/>
            <a:ext cx="1901952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指标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3977639"/>
            <a:ext cx="2926080" cy="475488"/>
          </a:xfrm>
          <a:prstGeom prst="rect">
            <a:avLst/>
          </a:prstGeom>
          <a:solidFill>
            <a:srgbClr val="C67034"/>
          </a:solidFill>
          <a:ln w="1270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80944" y="4087368"/>
            <a:ext cx="2816352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平台侧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3977639"/>
            <a:ext cx="2926080" cy="475488"/>
          </a:xfrm>
          <a:prstGeom prst="rect">
            <a:avLst/>
          </a:prstGeom>
          <a:solidFill>
            <a:srgbClr val="C67034"/>
          </a:solidFill>
          <a:ln w="1270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07024" y="4087368"/>
            <a:ext cx="2816352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Codex Worker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0" y="3977639"/>
            <a:ext cx="2926080" cy="475488"/>
          </a:xfrm>
          <a:prstGeom prst="rect">
            <a:avLst/>
          </a:prstGeom>
          <a:solidFill>
            <a:srgbClr val="C67034"/>
          </a:solidFill>
          <a:ln w="12700">
            <a:solidFill>
              <a:srgbClr val="F7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33104" y="4087368"/>
            <a:ext cx="2816352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业务侧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4453127"/>
            <a:ext cx="2011680" cy="502920"/>
          </a:xfrm>
          <a:prstGeom prst="rect">
            <a:avLst/>
          </a:prstGeom>
          <a:solidFill>
            <a:srgbClr val="EAEFF1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544567"/>
            <a:ext cx="18288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70" b="1">
                <a:solidFill>
                  <a:srgbClr val="151B22"/>
                </a:solidFill>
                <a:latin typeface="Microsoft YaHei"/>
              </a:rPr>
              <a:t>效率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4453127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0" y="4544567"/>
            <a:ext cx="27432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0">
                <a:solidFill>
                  <a:srgbClr val="525E6C"/>
                </a:solidFill>
                <a:latin typeface="Microsoft YaHei"/>
              </a:rPr>
              <a:t>队列等待 / P95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4453127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544567"/>
            <a:ext cx="27432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0">
                <a:solidFill>
                  <a:srgbClr val="525E6C"/>
                </a:solidFill>
                <a:latin typeface="Microsoft YaHei"/>
              </a:rPr>
              <a:t>工具耗时 / token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0" y="4453127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4544567"/>
            <a:ext cx="27432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0">
                <a:solidFill>
                  <a:srgbClr val="525E6C"/>
                </a:solidFill>
                <a:latin typeface="Microsoft YaHei"/>
              </a:rPr>
              <a:t>交付周期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4956047"/>
            <a:ext cx="2011680" cy="502920"/>
          </a:xfrm>
          <a:prstGeom prst="rect">
            <a:avLst/>
          </a:prstGeom>
          <a:solidFill>
            <a:srgbClr val="EAEFF1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047487"/>
            <a:ext cx="18288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70" b="1">
                <a:solidFill>
                  <a:srgbClr val="151B22"/>
                </a:solidFill>
                <a:latin typeface="Microsoft YaHei"/>
              </a:rPr>
              <a:t>质量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4956047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17520" y="5047487"/>
            <a:ext cx="27432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0">
                <a:solidFill>
                  <a:srgbClr val="525E6C"/>
                </a:solidFill>
                <a:latin typeface="Microsoft YaHei"/>
              </a:rPr>
              <a:t>成功率 / 重试率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52160" y="4956047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0" y="5047487"/>
            <a:ext cx="27432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0">
                <a:solidFill>
                  <a:srgbClr val="525E6C"/>
                </a:solidFill>
                <a:latin typeface="Microsoft YaHei"/>
              </a:rPr>
              <a:t>测试结果 / diff 风险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78240" y="4956047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0" y="5047487"/>
            <a:ext cx="27432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0">
                <a:solidFill>
                  <a:srgbClr val="525E6C"/>
                </a:solidFill>
                <a:latin typeface="Microsoft YaHei"/>
              </a:rPr>
              <a:t>验收通过率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5458967"/>
            <a:ext cx="2011680" cy="502920"/>
          </a:xfrm>
          <a:prstGeom prst="rect">
            <a:avLst/>
          </a:prstGeom>
          <a:solidFill>
            <a:srgbClr val="EAEFF1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5550407"/>
            <a:ext cx="18288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70" b="1">
                <a:solidFill>
                  <a:srgbClr val="151B22"/>
                </a:solidFill>
                <a:latin typeface="Microsoft YaHei"/>
              </a:rPr>
              <a:t>成本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0" y="5458967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17520" y="5550407"/>
            <a:ext cx="27432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0">
                <a:solidFill>
                  <a:srgbClr val="525E6C"/>
                </a:solidFill>
                <a:latin typeface="Microsoft YaHei"/>
              </a:rPr>
              <a:t>租户预算 / 限流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52160" y="5458967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0" y="5550407"/>
            <a:ext cx="27432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0">
                <a:solidFill>
                  <a:srgbClr val="525E6C"/>
                </a:solidFill>
                <a:latin typeface="Microsoft YaHei"/>
              </a:rPr>
              <a:t>模型与运行资源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78240" y="5458967"/>
            <a:ext cx="2926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69680" y="5550407"/>
            <a:ext cx="27432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0">
                <a:solidFill>
                  <a:srgbClr val="525E6C"/>
                </a:solidFill>
                <a:latin typeface="Microsoft YaHei"/>
              </a:rPr>
              <a:t>节省工时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473952"/>
            <a:ext cx="594360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525E6C"/>
                </a:solidFill>
                <a:latin typeface="Microsoft YaHei"/>
              </a:rPr>
              <a:t>Codex 二次开发用于企业级 Agent 平台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" y="320040"/>
            <a:ext cx="283464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502920"/>
            <a:ext cx="804672" cy="73152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789920" cy="43891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2900" b="1">
                <a:solidFill>
                  <a:srgbClr val="151B22"/>
                </a:solidFill>
                <a:latin typeface="Microsoft YaHei"/>
              </a:rPr>
              <a:t>参考实现模块与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170432"/>
            <a:ext cx="1014984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0">
                <a:solidFill>
                  <a:srgbClr val="525E6C"/>
                </a:solidFill>
                <a:latin typeface="Microsoft YaHei"/>
              </a:rPr>
              <a:t>把入口、编排、会话、策略、执行和连接拆开，便于多团队协作。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10927080" cy="13716"/>
          </a:xfrm>
          <a:prstGeom prst="rect">
            <a:avLst/>
          </a:prstGeom>
          <a:solidFill>
            <a:srgbClr val="D3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783080"/>
            <a:ext cx="3246120" cy="713232"/>
          </a:xfrm>
          <a:prstGeom prst="rect">
            <a:avLst/>
          </a:prstGeom>
          <a:solidFill>
            <a:srgbClr val="FFFFFF"/>
          </a:solidFill>
          <a:ln w="16510">
            <a:solidFill>
              <a:srgbClr val="128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901952"/>
            <a:ext cx="132588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>
                <a:solidFill>
                  <a:srgbClr val="128982"/>
                </a:solidFill>
                <a:latin typeface="Microsoft YaHei"/>
              </a:rPr>
              <a:t>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6816" y="1920240"/>
            <a:ext cx="1874519" cy="1554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4000"/>
              </a:lnSpc>
            </a:pPr>
            <a:r>
              <a:rPr sz="1220" b="0">
                <a:solidFill>
                  <a:srgbClr val="525E6C"/>
                </a:solidFill>
                <a:latin typeface="Microsoft YaHei"/>
              </a:rPr>
              <a:t>认证 / 路由 / 事件流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9704" y="1783080"/>
            <a:ext cx="3246120" cy="713232"/>
          </a:xfrm>
          <a:prstGeom prst="rect">
            <a:avLst/>
          </a:prstGeom>
          <a:solidFill>
            <a:srgbClr val="FFFFFF"/>
          </a:solidFill>
          <a:ln w="16510">
            <a:solidFill>
              <a:srgbClr val="C67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1901952"/>
            <a:ext cx="132588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>
                <a:solidFill>
                  <a:srgbClr val="C67034"/>
                </a:solidFill>
                <a:latin typeface="Microsoft YaHei"/>
              </a:rPr>
              <a:t>Orchestrator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0136" y="1920240"/>
            <a:ext cx="1874519" cy="1554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4000"/>
              </a:lnSpc>
            </a:pPr>
            <a:r>
              <a:rPr sz="1220" b="0">
                <a:solidFill>
                  <a:srgbClr val="525E6C"/>
                </a:solidFill>
                <a:latin typeface="Microsoft YaHei"/>
              </a:rPr>
              <a:t>状态机 / 队列 / 审批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3023" y="1783080"/>
            <a:ext cx="3246120" cy="713232"/>
          </a:xfrm>
          <a:prstGeom prst="rect">
            <a:avLst/>
          </a:prstGeom>
          <a:solidFill>
            <a:srgbClr val="FFFFFF"/>
          </a:solidFill>
          <a:ln w="16510">
            <a:solidFill>
              <a:srgbClr val="6D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5" y="1901952"/>
            <a:ext cx="132588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>
                <a:solidFill>
                  <a:srgbClr val="6D5BAA"/>
                </a:solidFill>
                <a:latin typeface="Microsoft YaHei"/>
              </a:rPr>
              <a:t>Session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3455" y="1920240"/>
            <a:ext cx="1874519" cy="1554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4000"/>
              </a:lnSpc>
            </a:pPr>
            <a:r>
              <a:rPr sz="1220" b="0">
                <a:solidFill>
                  <a:srgbClr val="525E6C"/>
                </a:solidFill>
                <a:latin typeface="Microsoft YaHei"/>
              </a:rPr>
              <a:t>多轮上下文 / checkpoint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2898648"/>
            <a:ext cx="3246120" cy="713232"/>
          </a:xfrm>
          <a:prstGeom prst="rect">
            <a:avLst/>
          </a:prstGeom>
          <a:solidFill>
            <a:srgbClr val="FFFFFF"/>
          </a:solidFill>
          <a:ln w="16510">
            <a:solidFill>
              <a:srgbClr val="BC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017520"/>
            <a:ext cx="132588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>
                <a:solidFill>
                  <a:srgbClr val="BC4242"/>
                </a:solidFill>
                <a:latin typeface="Microsoft YaHei"/>
              </a:rPr>
              <a:t>Policy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56816" y="3035808"/>
            <a:ext cx="1874519" cy="1554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4000"/>
              </a:lnSpc>
            </a:pPr>
            <a:r>
              <a:rPr sz="1220" b="0">
                <a:solidFill>
                  <a:srgbClr val="525E6C"/>
                </a:solidFill>
                <a:latin typeface="Microsoft YaHei"/>
              </a:rPr>
              <a:t>权限 / 风险 / 审计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9704" y="2898648"/>
            <a:ext cx="3246120" cy="713232"/>
          </a:xfrm>
          <a:prstGeom prst="rect">
            <a:avLst/>
          </a:prstGeom>
          <a:solidFill>
            <a:srgbClr val="FFFFFF"/>
          </a:solidFill>
          <a:ln w="16510">
            <a:solidFill>
              <a:srgbClr val="3D9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54296" y="3017520"/>
            <a:ext cx="132588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>
                <a:solidFill>
                  <a:srgbClr val="3D9159"/>
                </a:solidFill>
                <a:latin typeface="Microsoft YaHei"/>
              </a:rPr>
              <a:t>Worker Runtime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0136" y="3035808"/>
            <a:ext cx="1874519" cy="1554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4000"/>
              </a:lnSpc>
            </a:pPr>
            <a:r>
              <a:rPr sz="1220" b="0">
                <a:solidFill>
                  <a:srgbClr val="525E6C"/>
                </a:solidFill>
                <a:latin typeface="Microsoft YaHei"/>
              </a:rPr>
              <a:t>Codex / 沙箱 / 工具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93023" y="2898648"/>
            <a:ext cx="3246120" cy="713232"/>
          </a:xfrm>
          <a:prstGeom prst="rect">
            <a:avLst/>
          </a:prstGeom>
          <a:solidFill>
            <a:srgbClr val="FFFFFF"/>
          </a:solidFill>
          <a:ln w="16510">
            <a:solidFill>
              <a:srgbClr val="3169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7615" y="3017520"/>
            <a:ext cx="132588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>
                <a:solidFill>
                  <a:srgbClr val="3169B5"/>
                </a:solidFill>
                <a:latin typeface="Microsoft YaHei"/>
              </a:rPr>
              <a:t>Connector 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5" y="3035808"/>
            <a:ext cx="1874519" cy="1554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lnSpc>
                <a:spcPct val="104000"/>
              </a:lnSpc>
            </a:pPr>
            <a:r>
              <a:rPr sz="1220" b="0">
                <a:solidFill>
                  <a:srgbClr val="525E6C"/>
                </a:solidFill>
                <a:latin typeface="Microsoft YaHei"/>
              </a:rPr>
              <a:t>Git / CI / 工单 / 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4370832"/>
            <a:ext cx="10561320" cy="1078992"/>
          </a:xfrm>
          <a:prstGeom prst="rect">
            <a:avLst/>
          </a:prstGeom>
          <a:solidFill>
            <a:srgbClr val="1F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4553712"/>
            <a:ext cx="10149840" cy="6949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>
                <a:solidFill>
                  <a:srgbClr val="E9F0F6"/>
                </a:solidFill>
                <a:latin typeface="Consolas"/>
              </a:rPr>
              <a:t>POST /agent/tasks        创建任务</a:t>
            </a:r>
          </a:p>
          <a:p>
            <a:pPr algn="l">
              <a:lnSpc>
                <a:spcPct val="104000"/>
              </a:lnSpc>
            </a:pPr>
            <a:r>
              <a:rPr sz="1250" b="0">
                <a:solidFill>
                  <a:srgbClr val="E9F0F6"/>
                </a:solidFill>
                <a:latin typeface="Consolas"/>
              </a:rPr>
              <a:t>GET  /agent/tasks/{id}   查询状态</a:t>
            </a:r>
          </a:p>
          <a:p>
            <a:pPr algn="l">
              <a:lnSpc>
                <a:spcPct val="104000"/>
              </a:lnSpc>
            </a:pPr>
            <a:r>
              <a:rPr sz="1250" b="0">
                <a:solidFill>
                  <a:srgbClr val="E9F0F6"/>
                </a:solidFill>
                <a:latin typeface="Consolas"/>
              </a:rPr>
              <a:t>GET  /agent/tasks/{id}/events  订阅进度</a:t>
            </a:r>
          </a:p>
          <a:p>
            <a:pPr algn="l">
              <a:lnSpc>
                <a:spcPct val="104000"/>
              </a:lnSpc>
            </a:pPr>
            <a:r>
              <a:rPr sz="1250" b="0">
                <a:solidFill>
                  <a:srgbClr val="E9F0F6"/>
                </a:solidFill>
                <a:latin typeface="Consolas"/>
              </a:rPr>
              <a:t>PATCH /agent/tasks/{id}/approval  审批动作</a:t>
            </a:r>
          </a:p>
          <a:p>
            <a:pPr algn="l">
              <a:lnSpc>
                <a:spcPct val="104000"/>
              </a:lnSpc>
            </a:pPr>
            <a:r>
              <a:rPr sz="1250" b="0">
                <a:solidFill>
                  <a:srgbClr val="E9F0F6"/>
                </a:solidFill>
                <a:latin typeface="Consolas"/>
              </a:rPr>
              <a:t>GET  /agent/tasks/{id}/artifacts  下载交付物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73952"/>
            <a:ext cx="594360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525E6C"/>
                </a:solidFill>
                <a:latin typeface="Microsoft YaHei"/>
              </a:rPr>
              <a:t>Codex 二次开发用于企业级 Agent 平台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" y="320040"/>
            <a:ext cx="283464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502920"/>
            <a:ext cx="804672" cy="73152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94944"/>
            <a:ext cx="10789920" cy="43891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2900" b="1">
                <a:solidFill>
                  <a:srgbClr val="151B22"/>
                </a:solidFill>
                <a:latin typeface="Microsoft YaHei"/>
              </a:rPr>
              <a:t>落地路线与决策建议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170432"/>
            <a:ext cx="1014984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0">
                <a:solidFill>
                  <a:srgbClr val="525E6C"/>
                </a:solidFill>
                <a:latin typeface="Microsoft YaHei"/>
              </a:rPr>
              <a:t>先做可控场景，再扩大入口和工具；不要一开始追求全业务自治。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10927080" cy="13716"/>
          </a:xfrm>
          <a:prstGeom prst="rect">
            <a:avLst/>
          </a:prstGeom>
          <a:solidFill>
            <a:srgbClr val="D3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233172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128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2331720" cy="475488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2057400" cy="1463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0-2 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42032"/>
            <a:ext cx="1874519" cy="7498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420" b="0">
                <a:solidFill>
                  <a:srgbClr val="151B22"/>
                </a:solidFill>
                <a:latin typeface="Microsoft YaHei"/>
              </a:rPr>
              <a:t>确定 3-5 个场景</a:t>
            </a:r>
          </a:p>
          <a:p>
            <a:pPr algn="ctr">
              <a:lnSpc>
                <a:spcPct val="104000"/>
              </a:lnSpc>
            </a:pPr>
            <a:r>
              <a:rPr sz="1420" b="0">
                <a:solidFill>
                  <a:srgbClr val="151B22"/>
                </a:solidFill>
                <a:latin typeface="Microsoft YaHei"/>
              </a:rPr>
              <a:t>安全红线</a:t>
            </a:r>
          </a:p>
          <a:p>
            <a:pPr algn="ctr">
              <a:lnSpc>
                <a:spcPct val="104000"/>
              </a:lnSpc>
            </a:pPr>
            <a:r>
              <a:rPr sz="1420" b="0">
                <a:solidFill>
                  <a:srgbClr val="151B22"/>
                </a:solidFill>
                <a:latin typeface="Microsoft YaHei"/>
              </a:rPr>
              <a:t>评估任务集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79" y="1828800"/>
            <a:ext cx="233172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C67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79" y="1828800"/>
            <a:ext cx="2331720" cy="475488"/>
          </a:xfrm>
          <a:prstGeom prst="rect">
            <a:avLst/>
          </a:prstGeom>
          <a:solidFill>
            <a:srgbClr val="C67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1965960"/>
            <a:ext cx="2057400" cy="1463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3-6 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79" y="2542032"/>
            <a:ext cx="1874519" cy="7498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420" b="0">
                <a:solidFill>
                  <a:srgbClr val="151B22"/>
                </a:solidFill>
                <a:latin typeface="Microsoft YaHei"/>
              </a:rPr>
              <a:t>Agent Gateway</a:t>
            </a:r>
          </a:p>
          <a:p>
            <a:pPr algn="ctr">
              <a:lnSpc>
                <a:spcPct val="104000"/>
              </a:lnSpc>
            </a:pPr>
            <a:r>
              <a:rPr sz="1420" b="0">
                <a:solidFill>
                  <a:srgbClr val="151B22"/>
                </a:solidFill>
                <a:latin typeface="Microsoft YaHei"/>
              </a:rPr>
              <a:t>Git / CI / 工单</a:t>
            </a:r>
          </a:p>
          <a:p>
            <a:pPr algn="ctr">
              <a:lnSpc>
                <a:spcPct val="104000"/>
              </a:lnSpc>
            </a:pPr>
            <a:r>
              <a:rPr sz="1420" b="0">
                <a:solidFill>
                  <a:srgbClr val="151B22"/>
                </a:solidFill>
                <a:latin typeface="Microsoft YaHei"/>
              </a:rPr>
              <a:t>事件流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828800"/>
            <a:ext cx="233172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6D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828800"/>
            <a:ext cx="2331720" cy="475488"/>
          </a:xfrm>
          <a:prstGeom prst="rect">
            <a:avLst/>
          </a:prstGeom>
          <a:solidFill>
            <a:srgbClr val="6D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965960"/>
            <a:ext cx="2057400" cy="1463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7-10 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542032"/>
            <a:ext cx="1874519" cy="7498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420" b="0">
                <a:solidFill>
                  <a:srgbClr val="151B22"/>
                </a:solidFill>
                <a:latin typeface="Microsoft YaHei"/>
              </a:rPr>
              <a:t>Worker 池</a:t>
            </a:r>
          </a:p>
          <a:p>
            <a:pPr algn="ctr">
              <a:lnSpc>
                <a:spcPct val="104000"/>
              </a:lnSpc>
            </a:pPr>
            <a:r>
              <a:rPr sz="1420" b="0">
                <a:solidFill>
                  <a:srgbClr val="151B22"/>
                </a:solidFill>
                <a:latin typeface="Microsoft YaHei"/>
              </a:rPr>
              <a:t>多租户隔离</a:t>
            </a:r>
          </a:p>
          <a:p>
            <a:pPr algn="ctr">
              <a:lnSpc>
                <a:spcPct val="104000"/>
              </a:lnSpc>
            </a:pPr>
            <a:r>
              <a:rPr sz="1420" b="0">
                <a:solidFill>
                  <a:srgbClr val="151B22"/>
                </a:solidFill>
                <a:latin typeface="Microsoft YaHei"/>
              </a:rPr>
              <a:t>审计与成本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19" y="1828800"/>
            <a:ext cx="2331720" cy="1874519"/>
          </a:xfrm>
          <a:prstGeom prst="rect">
            <a:avLst/>
          </a:prstGeom>
          <a:solidFill>
            <a:srgbClr val="FFFFFF"/>
          </a:solidFill>
          <a:ln w="19050">
            <a:solidFill>
              <a:srgbClr val="3D91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19" y="1828800"/>
            <a:ext cx="2331720" cy="475488"/>
          </a:xfrm>
          <a:prstGeom prst="rect">
            <a:avLst/>
          </a:prstGeom>
          <a:solidFill>
            <a:srgbClr val="3D9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965960"/>
            <a:ext cx="2057400" cy="1463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11-13 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2542032"/>
            <a:ext cx="1874519" cy="7498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4000"/>
              </a:lnSpc>
            </a:pPr>
            <a:r>
              <a:rPr sz="1420" b="0">
                <a:solidFill>
                  <a:srgbClr val="151B22"/>
                </a:solidFill>
                <a:latin typeface="Microsoft YaHei"/>
              </a:rPr>
              <a:t>ChatOps / IDE</a:t>
            </a:r>
          </a:p>
          <a:p>
            <a:pPr algn="ctr">
              <a:lnSpc>
                <a:spcPct val="104000"/>
              </a:lnSpc>
            </a:pPr>
            <a:r>
              <a:rPr sz="1420" b="0">
                <a:solidFill>
                  <a:srgbClr val="151B22"/>
                </a:solidFill>
                <a:latin typeface="Microsoft YaHei"/>
              </a:rPr>
              <a:t>高风险审批</a:t>
            </a:r>
          </a:p>
          <a:p>
            <a:pPr algn="ctr">
              <a:lnSpc>
                <a:spcPct val="104000"/>
              </a:lnSpc>
            </a:pPr>
            <a:r>
              <a:rPr sz="1420" b="0">
                <a:solidFill>
                  <a:srgbClr val="151B22"/>
                </a:solidFill>
                <a:latin typeface="Microsoft YaHei"/>
              </a:rPr>
              <a:t>持续评估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709159"/>
            <a:ext cx="109728" cy="109728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432" y="4590288"/>
            <a:ext cx="10076688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0">
                <a:solidFill>
                  <a:srgbClr val="151B22"/>
                </a:solidFill>
                <a:latin typeface="Microsoft YaHei"/>
              </a:rPr>
              <a:t>推荐：Codex 作为软件工程 Agent 主执行层，外围建设统一治理平台。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239512"/>
            <a:ext cx="109728" cy="109728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0432" y="5120640"/>
            <a:ext cx="10076688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0">
                <a:solidFill>
                  <a:srgbClr val="151B22"/>
                </a:solidFill>
                <a:latin typeface="Microsoft YaHei"/>
              </a:rPr>
              <a:t>补充：Claude 做高质量分析模型；OpenClaw 做开源可控 PoC。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5769864"/>
            <a:ext cx="109728" cy="109728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70432" y="5650992"/>
            <a:ext cx="10076688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0">
                <a:solidFill>
                  <a:srgbClr val="151B22"/>
                </a:solidFill>
                <a:latin typeface="Microsoft YaHei"/>
              </a:rPr>
              <a:t>验收：成功率、完成时间、人工接管率、成本、安全事件和审批完整率。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73952"/>
            <a:ext cx="594360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>
                <a:solidFill>
                  <a:srgbClr val="525E6C"/>
                </a:solidFill>
                <a:latin typeface="Microsoft YaHei"/>
              </a:rPr>
              <a:t>Codex 二次开发用于企业级 Agent 平台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