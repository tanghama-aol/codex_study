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960120" cy="73152"/>
          </a:xfrm>
          <a:prstGeom prst="rect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55648"/>
            <a:ext cx="566928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D9992"/>
                </a:solidFill>
                <a:latin typeface="微软雅黑" panose="020B0503020204020204" charset="-122"/>
              </a:rPr>
              <a:t>Codex 二次开发</a:t>
            </a:r>
            <a:endParaRPr sz="1800" b="1">
              <a:solidFill>
                <a:srgbClr val="1D9992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267712"/>
            <a:ext cx="9875520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100" b="1">
                <a:solidFill>
                  <a:srgbClr val="141C26"/>
                </a:solidFill>
                <a:latin typeface="微软雅黑" panose="020B0503020204020204" charset="-122"/>
              </a:rPr>
              <a:t>用于企业级 Agent 平台的技术说明</a:t>
            </a:r>
            <a:endParaRPr sz="310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0352" y="3035808"/>
            <a:ext cx="9875520" cy="5852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5C6876"/>
                </a:solidFill>
                <a:latin typeface="微软雅黑" panose="020B0503020204020204" charset="-122"/>
              </a:rPr>
              <a:t>对比 OpenClaw 与 Claude：性能、安全、用户介入、多并发、多用户、多轮会话、外部系统连接与入口开发</a:t>
            </a:r>
            <a:endParaRPr sz="130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60920" y="3886200"/>
            <a:ext cx="388620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ccent"/>
          <p:cNvSpPr/>
          <p:nvPr/>
        </p:nvSpPr>
        <p:spPr>
          <a:xfrm>
            <a:off x="7360920" y="3886200"/>
            <a:ext cx="73152" cy="1536192"/>
          </a:xfrm>
          <a:prstGeom prst="rect">
            <a:avLst/>
          </a:prstGeom>
          <a:solidFill>
            <a:srgbClr val="E4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25512" y="4014215"/>
            <a:ext cx="357530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141C26"/>
                </a:solidFill>
                <a:latin typeface="微软雅黑" panose="020B0503020204020204" charset="-122"/>
              </a:rPr>
              <a:t>目标读者</a:t>
            </a:r>
            <a:endParaRPr sz="12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525512" y="4443984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4370832"/>
            <a:ext cx="341985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>
                <a:solidFill>
                  <a:srgbClr val="141C26"/>
                </a:solidFill>
                <a:latin typeface="微软雅黑" panose="020B0503020204020204" charset="-122"/>
              </a:rPr>
              <a:t>企业架构 / 平台工程</a:t>
            </a:r>
            <a:endParaRPr sz="98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525512" y="4928616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4855464"/>
            <a:ext cx="341985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>
                <a:solidFill>
                  <a:srgbClr val="141C26"/>
                </a:solidFill>
                <a:latin typeface="微软雅黑" panose="020B0503020204020204" charset="-122"/>
              </a:rPr>
              <a:t>安全合规 / DevSecOps</a:t>
            </a:r>
            <a:endParaRPr sz="98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7525512" y="5413248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5340096"/>
            <a:ext cx="341985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>
                <a:solidFill>
                  <a:srgbClr val="141C26"/>
                </a:solidFill>
                <a:latin typeface="微软雅黑" panose="020B0503020204020204" charset="-122"/>
              </a:rPr>
              <a:t>Agent 产品负责人</a:t>
            </a:r>
            <a:endParaRPr sz="98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6928" y="6236208"/>
            <a:ext cx="4114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FFFFFF"/>
                </a:solidFill>
                <a:latin typeface="微软雅黑" panose="020B0503020204020204" charset="-122"/>
              </a:rPr>
              <a:t>Technical Briefing Deck</a:t>
            </a:r>
            <a:endParaRPr sz="8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058400" y="6236208"/>
            <a:ext cx="1645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FFFFFF"/>
                </a:solidFill>
                <a:latin typeface="微软雅黑" panose="020B0503020204020204" charset="-122"/>
              </a:rPr>
              <a:t>2026-06-08</a:t>
            </a:r>
            <a:endParaRPr sz="85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D9992"/>
                </a:solidFill>
                <a:latin typeface="微软雅黑" panose="020B0503020204020204" charset="-122"/>
              </a:rPr>
              <a:t>01 / 结论</a:t>
            </a:r>
            <a:endParaRPr sz="950" b="1">
              <a:solidFill>
                <a:srgbClr val="1D9992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1">
                <a:solidFill>
                  <a:srgbClr val="141C26"/>
                </a:solidFill>
                <a:latin typeface="微软雅黑" panose="020B0503020204020204" charset="-122"/>
              </a:rPr>
              <a:t>核心结论：Codex 更适合作为“软件工程 Agent 底座”</a:t>
            </a:r>
            <a:endParaRPr sz="25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7" y="969264"/>
            <a:ext cx="104241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5C6876"/>
                </a:solidFill>
                <a:latin typeface="微软雅黑" panose="020B0503020204020204" charset="-122"/>
              </a:rPr>
              <a:t>把模型能力落到企业平台，关键不只是回答质量，而是任务编排、权限边界、可观测性和人工审批。</a:t>
            </a:r>
            <a:endParaRPr sz="10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3566160" cy="141732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ccent"/>
          <p:cNvSpPr/>
          <p:nvPr/>
        </p:nvSpPr>
        <p:spPr>
          <a:xfrm>
            <a:off x="594360" y="1691640"/>
            <a:ext cx="73152" cy="1417320"/>
          </a:xfrm>
          <a:prstGeom prst="rect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819656"/>
            <a:ext cx="325526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41C26"/>
                </a:solidFill>
                <a:latin typeface="微软雅黑" panose="020B0503020204020204" charset="-122"/>
              </a:rPr>
              <a:t>1. 开发任务天然适配</a:t>
            </a:r>
            <a:endParaRPr sz="150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8952" y="2176272"/>
            <a:ext cx="3255264" cy="8503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C6876"/>
                </a:solidFill>
                <a:latin typeface="微软雅黑" panose="020B0503020204020204" charset="-122"/>
              </a:rPr>
              <a:t>Codex 围绕代码理解、补丁生成、测试执行、代码审查和本地上下文协作设计，适合承接企业研发与运维自动化。</a:t>
            </a:r>
            <a:endParaRPr sz="105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566160" cy="1417320"/>
          </a:xfrm>
          <a:prstGeom prst="roundRect">
            <a:avLst/>
          </a:prstGeom>
          <a:solidFill>
            <a:srgbClr val="F2ECFA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ccent"/>
          <p:cNvSpPr/>
          <p:nvPr/>
        </p:nvSpPr>
        <p:spPr>
          <a:xfrm>
            <a:off x="4343400" y="1691640"/>
            <a:ext cx="73152" cy="1417320"/>
          </a:xfrm>
          <a:prstGeom prst="rect">
            <a:avLst/>
          </a:prstGeom>
          <a:solidFill>
            <a:srgbClr val="765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819656"/>
            <a:ext cx="325526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41C26"/>
                </a:solidFill>
                <a:latin typeface="微软雅黑" panose="020B0503020204020204" charset="-122"/>
              </a:rPr>
              <a:t>2. 可做平台化封装</a:t>
            </a:r>
            <a:endParaRPr sz="150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07992" y="2176272"/>
            <a:ext cx="3255264" cy="8503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C6876"/>
                </a:solidFill>
                <a:latin typeface="微软雅黑" panose="020B0503020204020204" charset="-122"/>
              </a:rPr>
              <a:t>通过入口层、会话层、工具层、策略层、Worker 层，把 Codex 能力封装成多租户 Agent 服务。</a:t>
            </a:r>
            <a:endParaRPr sz="105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566160" cy="1417320"/>
          </a:xfrm>
          <a:prstGeom prst="roundRect">
            <a:avLst/>
          </a:prstGeom>
          <a:solidFill>
            <a:srgbClr val="FCEFE2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ccent"/>
          <p:cNvSpPr/>
          <p:nvPr/>
        </p:nvSpPr>
        <p:spPr>
          <a:xfrm>
            <a:off x="8092440" y="1691640"/>
            <a:ext cx="73152" cy="1417320"/>
          </a:xfrm>
          <a:prstGeom prst="rect">
            <a:avLst/>
          </a:prstGeom>
          <a:solidFill>
            <a:srgbClr val="E4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1819656"/>
            <a:ext cx="325526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41C26"/>
                </a:solidFill>
                <a:latin typeface="微软雅黑" panose="020B0503020204020204" charset="-122"/>
              </a:rPr>
              <a:t>3. 安全治理可前置</a:t>
            </a:r>
            <a:endParaRPr sz="150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57031" y="2176272"/>
            <a:ext cx="3255264" cy="8503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C6876"/>
                </a:solidFill>
                <a:latin typeface="微软雅黑" panose="020B0503020204020204" charset="-122"/>
              </a:rPr>
              <a:t>将审批、沙箱、密钥托管、审计、数据脱敏和工具白名单放到平台控制面，而不是交给单个 Agent 自行判断。</a:t>
            </a:r>
            <a:endParaRPr sz="105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8368" y="3794760"/>
            <a:ext cx="41148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41C26"/>
                </a:solidFill>
                <a:latin typeface="微软雅黑" panose="020B0503020204020204" charset="-122"/>
              </a:rPr>
              <a:t>与 OpenClaw / Claude 的关系</a:t>
            </a:r>
            <a:endParaRPr sz="160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94944" y="4233672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4160520"/>
            <a:ext cx="107259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40" b="0">
                <a:solidFill>
                  <a:srgbClr val="141C26"/>
                </a:solidFill>
                <a:latin typeface="微软雅黑" panose="020B0503020204020204" charset="-122"/>
              </a:rPr>
              <a:t>OpenClaw：适合开源自控和实验型 Agent，但企业级并发、审计、安全策略和稳定性通常需要额外工程投入。</a:t>
            </a:r>
            <a:endParaRPr sz="114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694944" y="4718304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4645152"/>
            <a:ext cx="107259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40" b="0">
                <a:solidFill>
                  <a:srgbClr val="141C26"/>
                </a:solidFill>
                <a:latin typeface="微软雅黑" panose="020B0503020204020204" charset="-122"/>
              </a:rPr>
              <a:t>Claude：适合高质量文本推理和长上下文场景；作为平台底座时，仍需自建工具编排、权限、人机协同和运营体系。</a:t>
            </a:r>
            <a:endParaRPr sz="114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94944" y="5202936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5129784"/>
            <a:ext cx="107259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40" b="0">
                <a:solidFill>
                  <a:srgbClr val="141C26"/>
                </a:solidFill>
                <a:latin typeface="微软雅黑" panose="020B0503020204020204" charset="-122"/>
              </a:rPr>
              <a:t>Codex：更适合把“代码库内真实变更”变成可审批、可追踪、可回滚的工程工作流。</a:t>
            </a:r>
            <a:endParaRPr sz="114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6565392"/>
            <a:ext cx="5486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848F9C"/>
                </a:solidFill>
                <a:latin typeface="微软雅黑" panose="020B0503020204020204" charset="-122"/>
              </a:rPr>
              <a:t>Codex 企业级 Agent 平台技术说明</a:t>
            </a:r>
            <a:endParaRPr sz="75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201400" y="654710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848F9C"/>
                </a:solidFill>
                <a:latin typeface="微软雅黑" panose="020B0503020204020204" charset="-122"/>
              </a:rPr>
              <a:t>02</a:t>
            </a:r>
            <a:endParaRPr sz="80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D9992"/>
                </a:solidFill>
                <a:latin typeface="微软雅黑" panose="020B0503020204020204" charset="-122"/>
              </a:rPr>
              <a:t>02 / 平台目标</a:t>
            </a:r>
            <a:endParaRPr sz="950" b="1">
              <a:solidFill>
                <a:srgbClr val="1D9992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1">
                <a:solidFill>
                  <a:srgbClr val="141C26"/>
                </a:solidFill>
                <a:latin typeface="微软雅黑" panose="020B0503020204020204" charset="-122"/>
              </a:rPr>
              <a:t>企业级 Agent 平台的目标边界</a:t>
            </a:r>
            <a:endParaRPr sz="25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7" y="969264"/>
            <a:ext cx="104241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5C6876"/>
                </a:solidFill>
                <a:latin typeface="微软雅黑" panose="020B0503020204020204" charset="-122"/>
              </a:rPr>
              <a:t>先定义平台要交付什么，才能判断 Codex、OpenClaw、Claude 各自应该放在哪一层。</a:t>
            </a:r>
            <a:endParaRPr sz="10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3520440" cy="141732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ccent"/>
          <p:cNvSpPr/>
          <p:nvPr/>
        </p:nvSpPr>
        <p:spPr>
          <a:xfrm>
            <a:off x="594360" y="1664208"/>
            <a:ext cx="73152" cy="1417320"/>
          </a:xfrm>
          <a:prstGeom prst="rect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92224"/>
            <a:ext cx="32095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41C26"/>
                </a:solidFill>
                <a:latin typeface="微软雅黑" panose="020B0503020204020204" charset="-122"/>
              </a:rPr>
              <a:t>入口统一</a:t>
            </a:r>
            <a:endParaRPr sz="13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8952" y="2148840"/>
            <a:ext cx="3209544" cy="8503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>
                <a:solidFill>
                  <a:srgbClr val="5C6876"/>
                </a:solidFill>
                <a:latin typeface="微软雅黑" panose="020B0503020204020204" charset="-122"/>
              </a:rPr>
              <a:t>门户、IDE、CLI、ChatOps、工单、CI/CD、API 都通过统一 Agent Gateway 进入。</a:t>
            </a:r>
            <a:endParaRPr sz="9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43400" y="1664208"/>
            <a:ext cx="3520440" cy="1417320"/>
          </a:xfrm>
          <a:prstGeom prst="roundRect">
            <a:avLst/>
          </a:prstGeom>
          <a:solidFill>
            <a:srgbClr val="F2ECFA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ccent"/>
          <p:cNvSpPr/>
          <p:nvPr/>
        </p:nvSpPr>
        <p:spPr>
          <a:xfrm>
            <a:off x="4343400" y="1664208"/>
            <a:ext cx="73152" cy="1417320"/>
          </a:xfrm>
          <a:prstGeom prst="rect">
            <a:avLst/>
          </a:prstGeom>
          <a:solidFill>
            <a:srgbClr val="765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792224"/>
            <a:ext cx="32095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41C26"/>
                </a:solidFill>
                <a:latin typeface="微软雅黑" panose="020B0503020204020204" charset="-122"/>
              </a:rPr>
              <a:t>任务可控</a:t>
            </a:r>
            <a:endParaRPr sz="13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07992" y="2148840"/>
            <a:ext cx="3209544" cy="8503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>
                <a:solidFill>
                  <a:srgbClr val="5C6876"/>
                </a:solidFill>
                <a:latin typeface="微软雅黑" panose="020B0503020204020204" charset="-122"/>
              </a:rPr>
              <a:t>每个任务有状态机、审批点、权限策略、预算、超时、取消和结果归档。</a:t>
            </a:r>
            <a:endParaRPr sz="9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92440" y="1664208"/>
            <a:ext cx="3520440" cy="1417320"/>
          </a:xfrm>
          <a:prstGeom prst="roundRect">
            <a:avLst/>
          </a:prstGeom>
          <a:solidFill>
            <a:srgbClr val="FCEFE2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ccent"/>
          <p:cNvSpPr/>
          <p:nvPr/>
        </p:nvSpPr>
        <p:spPr>
          <a:xfrm>
            <a:off x="8092440" y="1664208"/>
            <a:ext cx="73152" cy="1417320"/>
          </a:xfrm>
          <a:prstGeom prst="rect">
            <a:avLst/>
          </a:prstGeom>
          <a:solidFill>
            <a:srgbClr val="E4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1792224"/>
            <a:ext cx="32095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41C26"/>
                </a:solidFill>
                <a:latin typeface="微软雅黑" panose="020B0503020204020204" charset="-122"/>
              </a:rPr>
              <a:t>上下文可信</a:t>
            </a:r>
            <a:endParaRPr sz="13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57031" y="2148840"/>
            <a:ext cx="3209544" cy="8503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>
                <a:solidFill>
                  <a:srgbClr val="5C6876"/>
                </a:solidFill>
                <a:latin typeface="微软雅黑" panose="020B0503020204020204" charset="-122"/>
              </a:rPr>
              <a:t>代码、文档、工单、日志、数据库等上下文通过授权连接器读取，避免把敏感数据散落在提示词中。</a:t>
            </a:r>
            <a:endParaRPr sz="9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94360" y="3538728"/>
            <a:ext cx="3520440" cy="1417320"/>
          </a:xfrm>
          <a:prstGeom prst="roundRect">
            <a:avLst/>
          </a:prstGeom>
          <a:solidFill>
            <a:srgbClr val="E8F6ED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ccent"/>
          <p:cNvSpPr/>
          <p:nvPr/>
        </p:nvSpPr>
        <p:spPr>
          <a:xfrm>
            <a:off x="594360" y="3538728"/>
            <a:ext cx="73152" cy="1417320"/>
          </a:xfrm>
          <a:prstGeom prst="rect">
            <a:avLst/>
          </a:prstGeom>
          <a:solidFill>
            <a:srgbClr val="3F9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3666744"/>
            <a:ext cx="32095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41C26"/>
                </a:solidFill>
                <a:latin typeface="微软雅黑" panose="020B0503020204020204" charset="-122"/>
              </a:rPr>
              <a:t>执行隔离</a:t>
            </a:r>
            <a:endParaRPr sz="13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8952" y="4023360"/>
            <a:ext cx="3209544" cy="8503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>
                <a:solidFill>
                  <a:srgbClr val="5C6876"/>
                </a:solidFill>
                <a:latin typeface="微软雅黑" panose="020B0503020204020204" charset="-122"/>
              </a:rPr>
              <a:t>每个用户、租户、项目和任务在独立工作区或沙箱运行，工具调用有白名单与审计。</a:t>
            </a:r>
            <a:endParaRPr sz="9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343400" y="3538728"/>
            <a:ext cx="3520440" cy="1417320"/>
          </a:xfrm>
          <a:prstGeom prst="roundRect">
            <a:avLst/>
          </a:prstGeom>
          <a:solidFill>
            <a:srgbClr val="E8F0FC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ccent"/>
          <p:cNvSpPr/>
          <p:nvPr/>
        </p:nvSpPr>
        <p:spPr>
          <a:xfrm>
            <a:off x="4343400" y="3538728"/>
            <a:ext cx="73152" cy="1417320"/>
          </a:xfrm>
          <a:prstGeom prst="rect">
            <a:avLst/>
          </a:prstGeom>
          <a:solidFill>
            <a:srgbClr val="41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7992" y="3666744"/>
            <a:ext cx="32095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41C26"/>
                </a:solidFill>
                <a:latin typeface="微软雅黑" panose="020B0503020204020204" charset="-122"/>
              </a:rPr>
              <a:t>结果可验收</a:t>
            </a:r>
            <a:endParaRPr sz="13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07992" y="4023360"/>
            <a:ext cx="3209544" cy="8503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>
                <a:solidFill>
                  <a:srgbClr val="5C6876"/>
                </a:solidFill>
                <a:latin typeface="微软雅黑" panose="020B0503020204020204" charset="-122"/>
              </a:rPr>
              <a:t>输出不仅是答案，还包括 diff、测试日志、证据链、风险说明和回滚路径。</a:t>
            </a:r>
            <a:endParaRPr sz="9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092440" y="3538728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ccent"/>
          <p:cNvSpPr/>
          <p:nvPr/>
        </p:nvSpPr>
        <p:spPr>
          <a:xfrm>
            <a:off x="8092440" y="3538728"/>
            <a:ext cx="73152" cy="1417320"/>
          </a:xfrm>
          <a:prstGeom prst="rect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7031" y="3666744"/>
            <a:ext cx="32095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41C26"/>
                </a:solidFill>
                <a:latin typeface="微软雅黑" panose="020B0503020204020204" charset="-122"/>
              </a:rPr>
              <a:t>运营可量化</a:t>
            </a:r>
            <a:endParaRPr sz="13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57031" y="4023360"/>
            <a:ext cx="3209544" cy="8503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>
                <a:solidFill>
                  <a:srgbClr val="5C6876"/>
                </a:solidFill>
                <a:latin typeface="微软雅黑" panose="020B0503020204020204" charset="-122"/>
              </a:rPr>
              <a:t>用成功率、人工接管率、平均完成时间、成本、故障率、安全事件来衡量平台质量。</a:t>
            </a:r>
            <a:endParaRPr sz="9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2920" y="6565392"/>
            <a:ext cx="5486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848F9C"/>
                </a:solidFill>
                <a:latin typeface="微软雅黑" panose="020B0503020204020204" charset="-122"/>
              </a:rPr>
              <a:t>Codex 企业级 Agent 平台技术说明</a:t>
            </a:r>
            <a:endParaRPr sz="75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201400" y="654710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848F9C"/>
                </a:solidFill>
                <a:latin typeface="微软雅黑" panose="020B0503020204020204" charset="-122"/>
              </a:rPr>
              <a:t>03</a:t>
            </a:r>
            <a:endParaRPr sz="80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D9992"/>
                </a:solidFill>
                <a:latin typeface="微软雅黑" panose="020B0503020204020204" charset="-122"/>
              </a:rPr>
              <a:t>03 / 方案定位</a:t>
            </a:r>
            <a:endParaRPr sz="950" b="1">
              <a:solidFill>
                <a:srgbClr val="1D9992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1">
                <a:solidFill>
                  <a:srgbClr val="141C26"/>
                </a:solidFill>
                <a:latin typeface="微软雅黑" panose="020B0503020204020204" charset="-122"/>
              </a:rPr>
              <a:t>三类方案定位对比</a:t>
            </a:r>
            <a:endParaRPr sz="25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7" y="969264"/>
            <a:ext cx="104241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5C6876"/>
                </a:solidFill>
                <a:latin typeface="微软雅黑" panose="020B0503020204020204" charset="-122"/>
              </a:rPr>
              <a:t>不是简单替代关系：OpenClaw 偏开源可控，Claude 偏通用模型能力，Codex 偏工程任务闭环。</a:t>
            </a:r>
            <a:endParaRPr sz="10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1417320" cy="667512"/>
          </a:xfrm>
          <a:prstGeom prst="rect">
            <a:avLst/>
          </a:prstGeom>
          <a:solidFill>
            <a:srgbClr val="1F344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737360"/>
            <a:ext cx="1271016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20" b="1">
                <a:solidFill>
                  <a:srgbClr val="FFFFFF"/>
                </a:solidFill>
                <a:latin typeface="微软雅黑" panose="020B0503020204020204" charset="-122"/>
              </a:rPr>
              <a:t>维度</a:t>
            </a:r>
            <a:endParaRPr sz="9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20240" y="1600200"/>
            <a:ext cx="3200400" cy="667512"/>
          </a:xfrm>
          <a:prstGeom prst="rect">
            <a:avLst/>
          </a:prstGeom>
          <a:solidFill>
            <a:srgbClr val="1F344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93392" y="1737360"/>
            <a:ext cx="3054096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20" b="1">
                <a:solidFill>
                  <a:srgbClr val="FFFFFF"/>
                </a:solidFill>
                <a:latin typeface="微软雅黑" panose="020B0503020204020204" charset="-122"/>
              </a:rPr>
              <a:t>Codex 二次开发</a:t>
            </a:r>
            <a:endParaRPr sz="9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120640" y="1600200"/>
            <a:ext cx="2971800" cy="667512"/>
          </a:xfrm>
          <a:prstGeom prst="rect">
            <a:avLst/>
          </a:prstGeom>
          <a:solidFill>
            <a:srgbClr val="1F344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93792" y="1737360"/>
            <a:ext cx="2825496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20" b="1">
                <a:solidFill>
                  <a:srgbClr val="FFFFFF"/>
                </a:solidFill>
                <a:latin typeface="微软雅黑" panose="020B0503020204020204" charset="-122"/>
              </a:rPr>
              <a:t>OpenClaw</a:t>
            </a:r>
            <a:endParaRPr sz="9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092440" y="1600200"/>
            <a:ext cx="3474720" cy="667512"/>
          </a:xfrm>
          <a:prstGeom prst="rect">
            <a:avLst/>
          </a:prstGeom>
          <a:solidFill>
            <a:srgbClr val="1F344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1737360"/>
            <a:ext cx="3328415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20" b="1">
                <a:solidFill>
                  <a:srgbClr val="FFFFFF"/>
                </a:solidFill>
                <a:latin typeface="微软雅黑" panose="020B0503020204020204" charset="-122"/>
              </a:rPr>
              <a:t>Claude / Claude Code</a:t>
            </a:r>
            <a:endParaRPr sz="9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2920" y="2267712"/>
            <a:ext cx="1417320" cy="667512"/>
          </a:xfrm>
          <a:prstGeom prst="rect">
            <a:avLst/>
          </a:prstGeom>
          <a:solidFill>
            <a:srgbClr val="EFF2F6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2340864"/>
            <a:ext cx="1271016" cy="5577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141C26"/>
                </a:solidFill>
                <a:latin typeface="微软雅黑" panose="020B0503020204020204" charset="-122"/>
              </a:rPr>
              <a:t>核心定位</a:t>
            </a:r>
            <a:endParaRPr sz="83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920240" y="2267712"/>
            <a:ext cx="32004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93392" y="2340864"/>
            <a:ext cx="3054096" cy="5577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软件工程 Agent 与代码任务闭环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120640" y="2267712"/>
            <a:ext cx="29718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93792" y="2340864"/>
            <a:ext cx="2825496" cy="5577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开源 Agent 框架 / 实验底座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092440" y="2267712"/>
            <a:ext cx="34747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65592" y="2340864"/>
            <a:ext cx="3328415" cy="5577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强推理模型与开发辅助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2920" y="2935224"/>
            <a:ext cx="1417320" cy="667512"/>
          </a:xfrm>
          <a:prstGeom prst="rect">
            <a:avLst/>
          </a:prstGeom>
          <a:solidFill>
            <a:srgbClr val="EFF2F6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" y="3008376"/>
            <a:ext cx="1271016" cy="5577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141C26"/>
                </a:solidFill>
                <a:latin typeface="微软雅黑" panose="020B0503020204020204" charset="-122"/>
              </a:rPr>
              <a:t>平台开发量</a:t>
            </a:r>
            <a:endParaRPr sz="83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920240" y="2935224"/>
            <a:ext cx="32004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93392" y="3008376"/>
            <a:ext cx="3054096" cy="5577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中等：封装入口、会话、工具、策略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120640" y="2935224"/>
            <a:ext cx="29718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93792" y="3008376"/>
            <a:ext cx="2825496" cy="5577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较高：平台能力大多自建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092440" y="2935224"/>
            <a:ext cx="34747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2" y="3008376"/>
            <a:ext cx="3328415" cy="5577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中高：工具编排和运行态需自建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02920" y="3602736"/>
            <a:ext cx="1417320" cy="667512"/>
          </a:xfrm>
          <a:prstGeom prst="rect">
            <a:avLst/>
          </a:prstGeom>
          <a:solidFill>
            <a:srgbClr val="EFF2F6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" y="3675887"/>
            <a:ext cx="1271016" cy="5577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141C26"/>
                </a:solidFill>
                <a:latin typeface="微软雅黑" panose="020B0503020204020204" charset="-122"/>
              </a:rPr>
              <a:t>性能侧重点</a:t>
            </a:r>
            <a:endParaRPr sz="83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920240" y="3602736"/>
            <a:ext cx="32004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93392" y="3675887"/>
            <a:ext cx="3054096" cy="5577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代码理解、补丁、测试、审查链路效率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120640" y="3602736"/>
            <a:ext cx="29718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93792" y="3675887"/>
            <a:ext cx="2825496" cy="5577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取决于模型、工具和自研运行时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092440" y="3602736"/>
            <a:ext cx="34747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65592" y="3675887"/>
            <a:ext cx="3328415" cy="5577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长上下文、复杂文本推理和规划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02920" y="4270248"/>
            <a:ext cx="1417320" cy="667512"/>
          </a:xfrm>
          <a:prstGeom prst="rect">
            <a:avLst/>
          </a:prstGeom>
          <a:solidFill>
            <a:srgbClr val="EFF2F6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" y="4343400"/>
            <a:ext cx="1271016" cy="5577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141C26"/>
                </a:solidFill>
                <a:latin typeface="微软雅黑" panose="020B0503020204020204" charset="-122"/>
              </a:rPr>
              <a:t>安全治理</a:t>
            </a:r>
            <a:endParaRPr sz="83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920240" y="4270248"/>
            <a:ext cx="32004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93392" y="4343400"/>
            <a:ext cx="3054096" cy="5577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适合叠加沙箱、审批、工具白名单、审计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120640" y="4270248"/>
            <a:ext cx="29718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93792" y="4343400"/>
            <a:ext cx="2825496" cy="5577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透明可控，但治理体系要自行补齐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092440" y="4270248"/>
            <a:ext cx="34747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65592" y="4343400"/>
            <a:ext cx="3328415" cy="5577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依赖接入方式，需外部平台承载策略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02920" y="4937760"/>
            <a:ext cx="1417320" cy="667512"/>
          </a:xfrm>
          <a:prstGeom prst="rect">
            <a:avLst/>
          </a:prstGeom>
          <a:solidFill>
            <a:srgbClr val="EFF2F6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" y="5010912"/>
            <a:ext cx="1271016" cy="5577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141C26"/>
                </a:solidFill>
                <a:latin typeface="微软雅黑" panose="020B0503020204020204" charset="-122"/>
              </a:rPr>
              <a:t>适用场景</a:t>
            </a:r>
            <a:endParaRPr sz="83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920240" y="4937760"/>
            <a:ext cx="32004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93392" y="5010912"/>
            <a:ext cx="3054096" cy="5577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研发、DevOps、平台工程、代码库自动化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120640" y="4937760"/>
            <a:ext cx="29718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93792" y="5010912"/>
            <a:ext cx="2825496" cy="5577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PoC、私有化探索、可控 Agent 实验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8092440" y="4937760"/>
            <a:ext cx="34747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65592" y="5010912"/>
            <a:ext cx="3328415" cy="5577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知识问答、分析、写作、代码辅助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02920" y="5605272"/>
            <a:ext cx="1417320" cy="667512"/>
          </a:xfrm>
          <a:prstGeom prst="rect">
            <a:avLst/>
          </a:prstGeom>
          <a:solidFill>
            <a:srgbClr val="EFF2F6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6072" y="5678424"/>
            <a:ext cx="1271016" cy="5577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141C26"/>
                </a:solidFill>
                <a:latin typeface="微软雅黑" panose="020B0503020204020204" charset="-122"/>
              </a:rPr>
              <a:t>主要风险</a:t>
            </a:r>
            <a:endParaRPr sz="83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920240" y="5605272"/>
            <a:ext cx="32004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993392" y="5678424"/>
            <a:ext cx="3054096" cy="5577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需管理供应商依赖和模型成本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120640" y="5605272"/>
            <a:ext cx="29718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93792" y="5678424"/>
            <a:ext cx="2825496" cy="5577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工程维护、安全硬化和可用性成本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8092440" y="5605272"/>
            <a:ext cx="34747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65592" y="5678424"/>
            <a:ext cx="3328415" cy="5577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工具闭环与企业操作边界需额外实现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914400" y="6080760"/>
            <a:ext cx="10378440" cy="256032"/>
          </a:xfrm>
          <a:prstGeom prst="roundRect">
            <a:avLst/>
          </a:prstGeom>
          <a:solidFill>
            <a:srgbClr val="E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7552" y="6121908"/>
            <a:ext cx="10232136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80" b="1">
                <a:solidFill>
                  <a:srgbClr val="1D9992"/>
                </a:solidFill>
                <a:latin typeface="微软雅黑" panose="020B0503020204020204" charset="-122"/>
              </a:rPr>
              <a:t>建议：把 Codex 作为软件工程 Agent 主执行层；Claude 可作为特定文本/分析模型；OpenClaw 可用于开源可控 PoC。</a:t>
            </a:r>
            <a:endParaRPr sz="780" b="1">
              <a:solidFill>
                <a:srgbClr val="1D9992"/>
              </a:solidFill>
              <a:latin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02920" y="6565392"/>
            <a:ext cx="5486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848F9C"/>
                </a:solidFill>
                <a:latin typeface="微软雅黑" panose="020B0503020204020204" charset="-122"/>
              </a:rPr>
              <a:t>Codex 企业级 Agent 平台技术说明</a:t>
            </a:r>
            <a:endParaRPr sz="75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1201400" y="654710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848F9C"/>
                </a:solidFill>
                <a:latin typeface="微软雅黑" panose="020B0503020204020204" charset="-122"/>
              </a:rPr>
              <a:t>04</a:t>
            </a:r>
            <a:endParaRPr sz="80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D9992"/>
                </a:solidFill>
                <a:latin typeface="微软雅黑" panose="020B0503020204020204" charset="-122"/>
              </a:rPr>
              <a:t>04 / 总体架构</a:t>
            </a:r>
            <a:endParaRPr sz="950" b="1">
              <a:solidFill>
                <a:srgbClr val="1D9992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1">
                <a:solidFill>
                  <a:srgbClr val="141C26"/>
                </a:solidFill>
                <a:latin typeface="微软雅黑" panose="020B0503020204020204" charset="-122"/>
              </a:rPr>
              <a:t>参考总体架构</a:t>
            </a:r>
            <a:endParaRPr sz="25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7" y="969264"/>
            <a:ext cx="104241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5C6876"/>
                </a:solidFill>
                <a:latin typeface="微软雅黑" panose="020B0503020204020204" charset="-122"/>
              </a:rPr>
              <a:t>企业 Agent 平台要把“入口、治理、编排、执行、连接、观测”分层，避免单 Agent 直接连生产系统。</a:t>
            </a:r>
            <a:endParaRPr sz="10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594360"/>
            <a:ext cx="107899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594360"/>
            <a:ext cx="1417320" cy="841248"/>
          </a:xfrm>
          <a:prstGeom prst="roundRect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859536"/>
            <a:ext cx="11430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入口层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423160" y="868680"/>
            <a:ext cx="1508760" cy="256032"/>
          </a:xfrm>
          <a:prstGeom prst="roundRect">
            <a:avLst/>
          </a:prstGeom>
          <a:solidFill>
            <a:srgbClr val="E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6312" y="909828"/>
            <a:ext cx="1362456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80" b="1">
                <a:solidFill>
                  <a:srgbClr val="1D9992"/>
                </a:solidFill>
                <a:latin typeface="微软雅黑" panose="020B0503020204020204" charset="-122"/>
              </a:rPr>
              <a:t>Web 门户</a:t>
            </a:r>
            <a:endParaRPr sz="780" b="1">
              <a:solidFill>
                <a:srgbClr val="1D9992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89120" y="868680"/>
            <a:ext cx="1508760" cy="256032"/>
          </a:xfrm>
          <a:prstGeom prst="roundRect">
            <a:avLst/>
          </a:prstGeom>
          <a:solidFill>
            <a:srgbClr val="E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909828"/>
            <a:ext cx="1362456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80" b="1">
                <a:solidFill>
                  <a:srgbClr val="1D9992"/>
                </a:solidFill>
                <a:latin typeface="微软雅黑" panose="020B0503020204020204" charset="-122"/>
              </a:rPr>
              <a:t>IDE / CLI</a:t>
            </a:r>
            <a:endParaRPr sz="780" b="1">
              <a:solidFill>
                <a:srgbClr val="1D9992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55079" y="868680"/>
            <a:ext cx="1508760" cy="256032"/>
          </a:xfrm>
          <a:prstGeom prst="roundRect">
            <a:avLst/>
          </a:prstGeom>
          <a:solidFill>
            <a:srgbClr val="E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909828"/>
            <a:ext cx="1362456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80" b="1">
                <a:solidFill>
                  <a:srgbClr val="1D9992"/>
                </a:solidFill>
                <a:latin typeface="微软雅黑" panose="020B0503020204020204" charset="-122"/>
              </a:rPr>
              <a:t>ChatOps</a:t>
            </a:r>
            <a:endParaRPr sz="780" b="1">
              <a:solidFill>
                <a:srgbClr val="1D9992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21040" y="868680"/>
            <a:ext cx="1508760" cy="256032"/>
          </a:xfrm>
          <a:prstGeom prst="roundRect">
            <a:avLst/>
          </a:prstGeom>
          <a:solidFill>
            <a:srgbClr val="E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909828"/>
            <a:ext cx="1362456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80" b="1">
                <a:solidFill>
                  <a:srgbClr val="1D9992"/>
                </a:solidFill>
                <a:latin typeface="微软雅黑" panose="020B0503020204020204" charset="-122"/>
              </a:rPr>
              <a:t>工单 / CI</a:t>
            </a:r>
            <a:endParaRPr sz="780" b="1">
              <a:solidFill>
                <a:srgbClr val="1D9992"/>
              </a:solidFill>
              <a:latin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1435608"/>
            <a:ext cx="0" cy="301752"/>
          </a:xfrm>
          <a:prstGeom prst="line">
            <a:avLst/>
          </a:prstGeom>
          <a:ln w="12700">
            <a:solidFill>
              <a:srgbClr val="848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520" y="1874519"/>
            <a:ext cx="107899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1874519"/>
            <a:ext cx="1417320" cy="841248"/>
          </a:xfrm>
          <a:prstGeom prst="roundRect">
            <a:avLst/>
          </a:prstGeom>
          <a:solidFill>
            <a:srgbClr val="765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139696"/>
            <a:ext cx="11430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Agent Gateway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423160" y="2148839"/>
            <a:ext cx="1508760" cy="256032"/>
          </a:xfrm>
          <a:prstGeom prst="roundRect">
            <a:avLst/>
          </a:prstGeom>
          <a:solidFill>
            <a:srgbClr val="F2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96312" y="2189987"/>
            <a:ext cx="1362456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80" b="1">
                <a:solidFill>
                  <a:srgbClr val="7656B0"/>
                </a:solidFill>
                <a:latin typeface="微软雅黑" panose="020B0503020204020204" charset="-122"/>
              </a:rPr>
              <a:t>认证</a:t>
            </a:r>
            <a:endParaRPr sz="780" b="1">
              <a:solidFill>
                <a:srgbClr val="7656B0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389120" y="2148839"/>
            <a:ext cx="1508760" cy="256032"/>
          </a:xfrm>
          <a:prstGeom prst="roundRect">
            <a:avLst/>
          </a:prstGeom>
          <a:solidFill>
            <a:srgbClr val="F2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2272" y="2189987"/>
            <a:ext cx="1362456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80" b="1">
                <a:solidFill>
                  <a:srgbClr val="7656B0"/>
                </a:solidFill>
                <a:latin typeface="微软雅黑" panose="020B0503020204020204" charset="-122"/>
              </a:rPr>
              <a:t>路由</a:t>
            </a:r>
            <a:endParaRPr sz="780" b="1">
              <a:solidFill>
                <a:srgbClr val="7656B0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355079" y="2148839"/>
            <a:ext cx="1508760" cy="256032"/>
          </a:xfrm>
          <a:prstGeom prst="roundRect">
            <a:avLst/>
          </a:prstGeom>
          <a:solidFill>
            <a:srgbClr val="F2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1" y="2189987"/>
            <a:ext cx="1362456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80" b="1">
                <a:solidFill>
                  <a:srgbClr val="7656B0"/>
                </a:solidFill>
                <a:latin typeface="微软雅黑" panose="020B0503020204020204" charset="-122"/>
              </a:rPr>
              <a:t>配额</a:t>
            </a:r>
            <a:endParaRPr sz="780" b="1">
              <a:solidFill>
                <a:srgbClr val="7656B0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321040" y="2148839"/>
            <a:ext cx="1508760" cy="256032"/>
          </a:xfrm>
          <a:prstGeom prst="roundRect">
            <a:avLst/>
          </a:prstGeom>
          <a:solidFill>
            <a:srgbClr val="F2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2189987"/>
            <a:ext cx="1362456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80" b="1">
                <a:solidFill>
                  <a:srgbClr val="7656B0"/>
                </a:solidFill>
                <a:latin typeface="微软雅黑" panose="020B0503020204020204" charset="-122"/>
              </a:rPr>
              <a:t>租户识别</a:t>
            </a:r>
            <a:endParaRPr sz="780" b="1">
              <a:solidFill>
                <a:srgbClr val="7656B0"/>
              </a:solidFill>
              <a:latin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6080760" y="2715768"/>
            <a:ext cx="0" cy="301752"/>
          </a:xfrm>
          <a:prstGeom prst="line">
            <a:avLst/>
          </a:prstGeom>
          <a:ln w="12700">
            <a:solidFill>
              <a:srgbClr val="848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31520" y="3154680"/>
            <a:ext cx="107899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3154680"/>
            <a:ext cx="1417320" cy="841248"/>
          </a:xfrm>
          <a:prstGeom prst="roundRect">
            <a:avLst/>
          </a:prstGeom>
          <a:solidFill>
            <a:srgbClr val="E4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3419856"/>
            <a:ext cx="11430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编排层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2423160" y="3429000"/>
            <a:ext cx="1508760" cy="256032"/>
          </a:xfrm>
          <a:prstGeom prst="roundRect">
            <a:avLst/>
          </a:prstGeom>
          <a:solidFill>
            <a:srgbClr val="FC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96312" y="3470148"/>
            <a:ext cx="1362456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80" b="1">
                <a:solidFill>
                  <a:srgbClr val="E4863A"/>
                </a:solidFill>
                <a:latin typeface="微软雅黑" panose="020B0503020204020204" charset="-122"/>
              </a:rPr>
              <a:t>任务状态机</a:t>
            </a:r>
            <a:endParaRPr sz="780" b="1">
              <a:solidFill>
                <a:srgbClr val="E4863A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389120" y="3429000"/>
            <a:ext cx="1508760" cy="256032"/>
          </a:xfrm>
          <a:prstGeom prst="roundRect">
            <a:avLst/>
          </a:prstGeom>
          <a:solidFill>
            <a:srgbClr val="FC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62272" y="3470148"/>
            <a:ext cx="1362456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80" b="1">
                <a:solidFill>
                  <a:srgbClr val="E4863A"/>
                </a:solidFill>
                <a:latin typeface="微软雅黑" panose="020B0503020204020204" charset="-122"/>
              </a:rPr>
              <a:t>会话管理</a:t>
            </a:r>
            <a:endParaRPr sz="780" b="1">
              <a:solidFill>
                <a:srgbClr val="E4863A"/>
              </a:solidFill>
              <a:latin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355079" y="3429000"/>
            <a:ext cx="1508760" cy="256032"/>
          </a:xfrm>
          <a:prstGeom prst="roundRect">
            <a:avLst/>
          </a:prstGeom>
          <a:solidFill>
            <a:srgbClr val="FC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28231" y="3470148"/>
            <a:ext cx="1362456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80" b="1">
                <a:solidFill>
                  <a:srgbClr val="E4863A"/>
                </a:solidFill>
                <a:latin typeface="微软雅黑" panose="020B0503020204020204" charset="-122"/>
              </a:rPr>
              <a:t>HITL 审批</a:t>
            </a:r>
            <a:endParaRPr sz="780" b="1">
              <a:solidFill>
                <a:srgbClr val="E4863A"/>
              </a:solidFill>
              <a:latin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321040" y="3429000"/>
            <a:ext cx="1508760" cy="256032"/>
          </a:xfrm>
          <a:prstGeom prst="roundRect">
            <a:avLst/>
          </a:prstGeom>
          <a:solidFill>
            <a:srgbClr val="FC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94192" y="3470148"/>
            <a:ext cx="1362456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80" b="1">
                <a:solidFill>
                  <a:srgbClr val="E4863A"/>
                </a:solidFill>
                <a:latin typeface="微软雅黑" panose="020B0503020204020204" charset="-122"/>
              </a:rPr>
              <a:t>并发调度</a:t>
            </a:r>
            <a:endParaRPr sz="780" b="1">
              <a:solidFill>
                <a:srgbClr val="E4863A"/>
              </a:solidFill>
              <a:latin typeface="微软雅黑" panose="020B0503020204020204" charset="-122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6080760" y="3995928"/>
            <a:ext cx="0" cy="301752"/>
          </a:xfrm>
          <a:prstGeom prst="line">
            <a:avLst/>
          </a:prstGeom>
          <a:ln w="12700">
            <a:solidFill>
              <a:srgbClr val="848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31520" y="4434840"/>
            <a:ext cx="107899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31520" y="4434840"/>
            <a:ext cx="1417320" cy="841248"/>
          </a:xfrm>
          <a:prstGeom prst="roundRect">
            <a:avLst/>
          </a:prstGeom>
          <a:solidFill>
            <a:srgbClr val="3F9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4700016"/>
            <a:ext cx="11430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执行层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2423160" y="4709159"/>
            <a:ext cx="1508760" cy="256032"/>
          </a:xfrm>
          <a:prstGeom prst="roundRect">
            <a:avLst/>
          </a:prstGeom>
          <a:solidFill>
            <a:srgbClr val="E8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96312" y="4750307"/>
            <a:ext cx="1362456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80" b="1">
                <a:solidFill>
                  <a:srgbClr val="3F9C63"/>
                </a:solidFill>
                <a:latin typeface="微软雅黑" panose="020B0503020204020204" charset="-122"/>
              </a:rPr>
              <a:t>Codex Worker</a:t>
            </a:r>
            <a:endParaRPr sz="780" b="1">
              <a:solidFill>
                <a:srgbClr val="3F9C63"/>
              </a:solidFill>
              <a:latin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4389120" y="4709159"/>
            <a:ext cx="1508760" cy="256032"/>
          </a:xfrm>
          <a:prstGeom prst="roundRect">
            <a:avLst/>
          </a:prstGeom>
          <a:solidFill>
            <a:srgbClr val="E8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62272" y="4750307"/>
            <a:ext cx="1362456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80" b="1">
                <a:solidFill>
                  <a:srgbClr val="3F9C63"/>
                </a:solidFill>
                <a:latin typeface="微软雅黑" panose="020B0503020204020204" charset="-122"/>
              </a:rPr>
              <a:t>沙箱工作区</a:t>
            </a:r>
            <a:endParaRPr sz="780" b="1">
              <a:solidFill>
                <a:srgbClr val="3F9C63"/>
              </a:solidFill>
              <a:latin typeface="微软雅黑" panose="020B0503020204020204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6355079" y="4709159"/>
            <a:ext cx="1508760" cy="256032"/>
          </a:xfrm>
          <a:prstGeom prst="roundRect">
            <a:avLst/>
          </a:prstGeom>
          <a:solidFill>
            <a:srgbClr val="E8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28231" y="4750307"/>
            <a:ext cx="1362456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80" b="1">
                <a:solidFill>
                  <a:srgbClr val="3F9C63"/>
                </a:solidFill>
                <a:latin typeface="微软雅黑" panose="020B0503020204020204" charset="-122"/>
              </a:rPr>
              <a:t>工具运行时</a:t>
            </a:r>
            <a:endParaRPr sz="780" b="1">
              <a:solidFill>
                <a:srgbClr val="3F9C63"/>
              </a:solidFill>
              <a:latin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8321040" y="4709159"/>
            <a:ext cx="1508760" cy="256032"/>
          </a:xfrm>
          <a:prstGeom prst="roundRect">
            <a:avLst/>
          </a:prstGeom>
          <a:solidFill>
            <a:srgbClr val="E8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94192" y="4750307"/>
            <a:ext cx="1362456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80" b="1">
                <a:solidFill>
                  <a:srgbClr val="3F9C63"/>
                </a:solidFill>
                <a:latin typeface="微软雅黑" panose="020B0503020204020204" charset="-122"/>
              </a:rPr>
              <a:t>模型路由</a:t>
            </a:r>
            <a:endParaRPr sz="780" b="1">
              <a:solidFill>
                <a:srgbClr val="3F9C63"/>
              </a:solidFill>
              <a:latin typeface="微软雅黑" panose="020B0503020204020204" charset="-122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6080760" y="5276088"/>
            <a:ext cx="0" cy="301752"/>
          </a:xfrm>
          <a:prstGeom prst="line">
            <a:avLst/>
          </a:prstGeom>
          <a:ln w="12700">
            <a:solidFill>
              <a:srgbClr val="848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731520" y="5715000"/>
            <a:ext cx="107899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31520" y="5715000"/>
            <a:ext cx="1417320" cy="841248"/>
          </a:xfrm>
          <a:prstGeom prst="roundRect">
            <a:avLst/>
          </a:prstGeom>
          <a:solidFill>
            <a:srgbClr val="41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" y="5980176"/>
            <a:ext cx="11430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连接层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2423160" y="5989320"/>
            <a:ext cx="1508760" cy="256032"/>
          </a:xfrm>
          <a:prstGeom prst="roundRect">
            <a:avLst/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96312" y="6030468"/>
            <a:ext cx="1362456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80" b="1">
                <a:solidFill>
                  <a:srgbClr val="4175C4"/>
                </a:solidFill>
                <a:latin typeface="微软雅黑" panose="020B0503020204020204" charset="-122"/>
              </a:rPr>
              <a:t>MCP / API</a:t>
            </a:r>
            <a:endParaRPr sz="780" b="1">
              <a:solidFill>
                <a:srgbClr val="4175C4"/>
              </a:solidFill>
              <a:latin typeface="微软雅黑" panose="020B0503020204020204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4389120" y="5989320"/>
            <a:ext cx="1508760" cy="256032"/>
          </a:xfrm>
          <a:prstGeom prst="roundRect">
            <a:avLst/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62272" y="6030468"/>
            <a:ext cx="1362456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80" b="1">
                <a:solidFill>
                  <a:srgbClr val="4175C4"/>
                </a:solidFill>
                <a:latin typeface="微软雅黑" panose="020B0503020204020204" charset="-122"/>
              </a:rPr>
              <a:t>Git / CI</a:t>
            </a:r>
            <a:endParaRPr sz="780" b="1">
              <a:solidFill>
                <a:srgbClr val="4175C4"/>
              </a:solidFill>
              <a:latin typeface="微软雅黑" panose="020B0503020204020204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6355079" y="5989320"/>
            <a:ext cx="1508760" cy="256032"/>
          </a:xfrm>
          <a:prstGeom prst="roundRect">
            <a:avLst/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28231" y="6030468"/>
            <a:ext cx="1362456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80" b="1">
                <a:solidFill>
                  <a:srgbClr val="4175C4"/>
                </a:solidFill>
                <a:latin typeface="微软雅黑" panose="020B0503020204020204" charset="-122"/>
              </a:rPr>
              <a:t>知识库</a:t>
            </a:r>
            <a:endParaRPr sz="780" b="1">
              <a:solidFill>
                <a:srgbClr val="4175C4"/>
              </a:solidFill>
              <a:latin typeface="微软雅黑" panose="020B0503020204020204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8321040" y="5989320"/>
            <a:ext cx="1508760" cy="256032"/>
          </a:xfrm>
          <a:prstGeom prst="roundRect">
            <a:avLst/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94192" y="6030468"/>
            <a:ext cx="1362456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80" b="1">
                <a:solidFill>
                  <a:srgbClr val="4175C4"/>
                </a:solidFill>
                <a:latin typeface="微软雅黑" panose="020B0503020204020204" charset="-122"/>
              </a:rPr>
              <a:t>业务系统</a:t>
            </a:r>
            <a:endParaRPr sz="780" b="1">
              <a:solidFill>
                <a:srgbClr val="4175C4"/>
              </a:solidFill>
              <a:latin typeface="微软雅黑" panose="020B0503020204020204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9829800" y="1737360"/>
            <a:ext cx="1783080" cy="3246120"/>
          </a:xfrm>
          <a:prstGeom prst="roundRect">
            <a:avLst/>
          </a:prstGeom>
          <a:solidFill>
            <a:srgbClr val="EFF2F6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57232" y="1993392"/>
            <a:ext cx="1353312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>
                <a:solidFill>
                  <a:srgbClr val="141C26"/>
                </a:solidFill>
                <a:latin typeface="微软雅黑" panose="020B0503020204020204" charset="-122"/>
              </a:rPr>
              <a:t>治理控制面</a:t>
            </a:r>
            <a:endParaRPr sz="10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9857232" y="2496312"/>
            <a:ext cx="82296" cy="82296"/>
          </a:xfrm>
          <a:prstGeom prst="ellipse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12680" y="2423160"/>
            <a:ext cx="117043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40" b="0">
                <a:solidFill>
                  <a:srgbClr val="141C26"/>
                </a:solidFill>
                <a:latin typeface="微软雅黑" panose="020B0503020204020204" charset="-122"/>
              </a:rPr>
              <a:t>RBAC / ABAC</a:t>
            </a:r>
            <a:endParaRPr sz="84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9857232" y="2980944"/>
            <a:ext cx="82296" cy="82296"/>
          </a:xfrm>
          <a:prstGeom prst="ellipse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012680" y="2907791"/>
            <a:ext cx="117043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40" b="0">
                <a:solidFill>
                  <a:srgbClr val="141C26"/>
                </a:solidFill>
                <a:latin typeface="微软雅黑" panose="020B0503020204020204" charset="-122"/>
              </a:rPr>
              <a:t>策略引擎</a:t>
            </a:r>
            <a:endParaRPr sz="84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9857232" y="3465576"/>
            <a:ext cx="82296" cy="82296"/>
          </a:xfrm>
          <a:prstGeom prst="ellipse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012680" y="3392424"/>
            <a:ext cx="117043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40" b="0">
                <a:solidFill>
                  <a:srgbClr val="141C26"/>
                </a:solidFill>
                <a:latin typeface="微软雅黑" panose="020B0503020204020204" charset="-122"/>
              </a:rPr>
              <a:t>审计追踪</a:t>
            </a:r>
            <a:endParaRPr sz="84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9857232" y="3950208"/>
            <a:ext cx="82296" cy="82296"/>
          </a:xfrm>
          <a:prstGeom prst="ellipse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012680" y="3877056"/>
            <a:ext cx="117043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40" b="0">
                <a:solidFill>
                  <a:srgbClr val="141C26"/>
                </a:solidFill>
                <a:latin typeface="微软雅黑" panose="020B0503020204020204" charset="-122"/>
              </a:rPr>
              <a:t>成本预算</a:t>
            </a:r>
            <a:endParaRPr sz="84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9857232" y="4434840"/>
            <a:ext cx="82296" cy="82296"/>
          </a:xfrm>
          <a:prstGeom prst="ellipse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012680" y="4361688"/>
            <a:ext cx="117043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40" b="0">
                <a:solidFill>
                  <a:srgbClr val="141C26"/>
                </a:solidFill>
                <a:latin typeface="微软雅黑" panose="020B0503020204020204" charset="-122"/>
              </a:rPr>
              <a:t>风险拦截</a:t>
            </a:r>
            <a:endParaRPr sz="84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02920" y="6565392"/>
            <a:ext cx="5486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848F9C"/>
                </a:solidFill>
                <a:latin typeface="微软雅黑" panose="020B0503020204020204" charset="-122"/>
              </a:rPr>
              <a:t>Codex 企业级 Agent 平台技术说明</a:t>
            </a:r>
            <a:endParaRPr sz="75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1201400" y="654710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848F9C"/>
                </a:solidFill>
                <a:latin typeface="微软雅黑" panose="020B0503020204020204" charset="-122"/>
              </a:rPr>
              <a:t>05</a:t>
            </a:r>
            <a:endParaRPr sz="80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D9992"/>
                </a:solidFill>
                <a:latin typeface="微软雅黑" panose="020B0503020204020204" charset="-122"/>
              </a:rPr>
              <a:t>05 / 二次开发入口</a:t>
            </a:r>
            <a:endParaRPr sz="950" b="1">
              <a:solidFill>
                <a:srgbClr val="1D9992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1">
                <a:solidFill>
                  <a:srgbClr val="141C26"/>
                </a:solidFill>
                <a:latin typeface="微软雅黑" panose="020B0503020204020204" charset="-122"/>
              </a:rPr>
              <a:t>Codex 二次开发的主要入口</a:t>
            </a:r>
            <a:endParaRPr sz="25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7" y="969264"/>
            <a:ext cx="104241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5C6876"/>
                </a:solidFill>
                <a:latin typeface="微软雅黑" panose="020B0503020204020204" charset="-122"/>
              </a:rPr>
              <a:t>平台化时不要只封装聊天框，要把 Codex 能力拆成可配置、可审计、可复用的工程接口。</a:t>
            </a:r>
            <a:endParaRPr sz="10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5349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ccent"/>
          <p:cNvSpPr/>
          <p:nvPr/>
        </p:nvSpPr>
        <p:spPr>
          <a:xfrm>
            <a:off x="594360" y="1600200"/>
            <a:ext cx="73152" cy="868680"/>
          </a:xfrm>
          <a:prstGeom prst="rect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28216"/>
            <a:ext cx="50383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1">
                <a:solidFill>
                  <a:srgbClr val="141C26"/>
                </a:solidFill>
                <a:latin typeface="微软雅黑" panose="020B0503020204020204" charset="-122"/>
              </a:rPr>
              <a:t>Prompt / 指令模板</a:t>
            </a:r>
            <a:endParaRPr sz="113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8952" y="2084832"/>
            <a:ext cx="5038344" cy="3017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5C6876"/>
                </a:solidFill>
                <a:latin typeface="微软雅黑" panose="020B0503020204020204" charset="-122"/>
              </a:rPr>
              <a:t>将企业角色、输出格式、风险边界、验收标准做成模板库。</a:t>
            </a:r>
            <a:endParaRPr sz="8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94360" y="2743200"/>
            <a:ext cx="5349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ccent"/>
          <p:cNvSpPr/>
          <p:nvPr/>
        </p:nvSpPr>
        <p:spPr>
          <a:xfrm>
            <a:off x="594360" y="2743200"/>
            <a:ext cx="73152" cy="868680"/>
          </a:xfrm>
          <a:prstGeom prst="rect">
            <a:avLst/>
          </a:prstGeom>
          <a:solidFill>
            <a:srgbClr val="765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871216"/>
            <a:ext cx="50383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1">
                <a:solidFill>
                  <a:srgbClr val="141C26"/>
                </a:solidFill>
                <a:latin typeface="微软雅黑" panose="020B0503020204020204" charset="-122"/>
              </a:rPr>
              <a:t>项目上下文</a:t>
            </a:r>
            <a:endParaRPr sz="113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8952" y="3227832"/>
            <a:ext cx="5038344" cy="3017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5C6876"/>
                </a:solidFill>
                <a:latin typeface="微软雅黑" panose="020B0503020204020204" charset="-122"/>
              </a:rPr>
              <a:t>用仓库规范、项目配置、工作区文件和检索结果构造任务上下文。</a:t>
            </a:r>
            <a:endParaRPr sz="8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94360" y="3886200"/>
            <a:ext cx="5349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ccent"/>
          <p:cNvSpPr/>
          <p:nvPr/>
        </p:nvSpPr>
        <p:spPr>
          <a:xfrm>
            <a:off x="594360" y="3886200"/>
            <a:ext cx="73152" cy="868680"/>
          </a:xfrm>
          <a:prstGeom prst="rect">
            <a:avLst/>
          </a:prstGeom>
          <a:solidFill>
            <a:srgbClr val="E4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4014215"/>
            <a:ext cx="50383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1">
                <a:solidFill>
                  <a:srgbClr val="141C26"/>
                </a:solidFill>
                <a:latin typeface="微软雅黑" panose="020B0503020204020204" charset="-122"/>
              </a:rPr>
              <a:t>Skills / 插件</a:t>
            </a:r>
            <a:endParaRPr sz="113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8952" y="4370832"/>
            <a:ext cx="5038344" cy="3017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5C6876"/>
                </a:solidFill>
                <a:latin typeface="微软雅黑" panose="020B0503020204020204" charset="-122"/>
              </a:rPr>
              <a:t>把重复工作流封装为可复用能力，例如发布检查、代码审查、报表生成。</a:t>
            </a:r>
            <a:endParaRPr sz="8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94360" y="5029200"/>
            <a:ext cx="5349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ccent"/>
          <p:cNvSpPr/>
          <p:nvPr/>
        </p:nvSpPr>
        <p:spPr>
          <a:xfrm>
            <a:off x="594360" y="5029200"/>
            <a:ext cx="73152" cy="868680"/>
          </a:xfrm>
          <a:prstGeom prst="rect">
            <a:avLst/>
          </a:prstGeom>
          <a:solidFill>
            <a:srgbClr val="3F9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5157216"/>
            <a:ext cx="50383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1">
                <a:solidFill>
                  <a:srgbClr val="141C26"/>
                </a:solidFill>
                <a:latin typeface="微软雅黑" panose="020B0503020204020204" charset="-122"/>
              </a:rPr>
              <a:t>MCP / 连接器</a:t>
            </a:r>
            <a:endParaRPr sz="113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8952" y="5513832"/>
            <a:ext cx="5038344" cy="3017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5C6876"/>
                </a:solidFill>
                <a:latin typeface="微软雅黑" panose="020B0503020204020204" charset="-122"/>
              </a:rPr>
              <a:t>通过标准化工具接口连接 Git、知识库、数据库、工单和内部服务。</a:t>
            </a:r>
            <a:endParaRPr sz="8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63640" y="1600200"/>
            <a:ext cx="5349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ccent"/>
          <p:cNvSpPr/>
          <p:nvPr/>
        </p:nvSpPr>
        <p:spPr>
          <a:xfrm>
            <a:off x="6263640" y="1600200"/>
            <a:ext cx="73152" cy="868680"/>
          </a:xfrm>
          <a:prstGeom prst="rect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1728216"/>
            <a:ext cx="50383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1">
                <a:solidFill>
                  <a:srgbClr val="141C26"/>
                </a:solidFill>
                <a:latin typeface="微软雅黑" panose="020B0503020204020204" charset="-122"/>
              </a:rPr>
              <a:t>Hooks / 策略</a:t>
            </a:r>
            <a:endParaRPr sz="113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28231" y="2084832"/>
            <a:ext cx="5038344" cy="3017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5C6876"/>
                </a:solidFill>
                <a:latin typeface="微软雅黑" panose="020B0503020204020204" charset="-122"/>
              </a:rPr>
              <a:t>在工具调用、文件编辑、提交前后注入权限校验、审计和拦截。</a:t>
            </a:r>
            <a:endParaRPr sz="8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263640" y="2743200"/>
            <a:ext cx="5349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ccent"/>
          <p:cNvSpPr/>
          <p:nvPr/>
        </p:nvSpPr>
        <p:spPr>
          <a:xfrm>
            <a:off x="6263640" y="2743200"/>
            <a:ext cx="73152" cy="868680"/>
          </a:xfrm>
          <a:prstGeom prst="rect">
            <a:avLst/>
          </a:prstGeom>
          <a:solidFill>
            <a:srgbClr val="41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1" y="2871216"/>
            <a:ext cx="50383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1">
                <a:solidFill>
                  <a:srgbClr val="141C26"/>
                </a:solidFill>
                <a:latin typeface="微软雅黑" panose="020B0503020204020204" charset="-122"/>
              </a:rPr>
              <a:t>Worker Runtime</a:t>
            </a:r>
            <a:endParaRPr sz="113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28231" y="3227832"/>
            <a:ext cx="5038344" cy="3017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5C6876"/>
                </a:solidFill>
                <a:latin typeface="微软雅黑" panose="020B0503020204020204" charset="-122"/>
              </a:rPr>
              <a:t>为每个任务分配独立工作区、模型配置、工具白名单和资源预算。</a:t>
            </a:r>
            <a:endParaRPr sz="8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263640" y="3886200"/>
            <a:ext cx="5349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ccent"/>
          <p:cNvSpPr/>
          <p:nvPr/>
        </p:nvSpPr>
        <p:spPr>
          <a:xfrm>
            <a:off x="6263640" y="3886200"/>
            <a:ext cx="73152" cy="868680"/>
          </a:xfrm>
          <a:prstGeom prst="rect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28231" y="4014215"/>
            <a:ext cx="50383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1">
                <a:solidFill>
                  <a:srgbClr val="141C26"/>
                </a:solidFill>
                <a:latin typeface="微软雅黑" panose="020B0503020204020204" charset="-122"/>
              </a:rPr>
              <a:t>API 包装</a:t>
            </a:r>
            <a:endParaRPr sz="113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28231" y="4370832"/>
            <a:ext cx="5038344" cy="3017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5C6876"/>
                </a:solidFill>
                <a:latin typeface="微软雅黑" panose="020B0503020204020204" charset="-122"/>
              </a:rPr>
              <a:t>对外暴露任务创建、事件流、审批、结果下载和回滚接口。</a:t>
            </a:r>
            <a:endParaRPr sz="8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263640" y="5029200"/>
            <a:ext cx="5349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ccent"/>
          <p:cNvSpPr/>
          <p:nvPr/>
        </p:nvSpPr>
        <p:spPr>
          <a:xfrm>
            <a:off x="6263640" y="5029200"/>
            <a:ext cx="73152" cy="868680"/>
          </a:xfrm>
          <a:prstGeom prst="rect">
            <a:avLst/>
          </a:prstGeom>
          <a:solidFill>
            <a:srgbClr val="E4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28231" y="5157216"/>
            <a:ext cx="50383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1">
                <a:solidFill>
                  <a:srgbClr val="141C26"/>
                </a:solidFill>
                <a:latin typeface="微软雅黑" panose="020B0503020204020204" charset="-122"/>
              </a:rPr>
              <a:t>观测与评估</a:t>
            </a:r>
            <a:endParaRPr sz="113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28231" y="5513832"/>
            <a:ext cx="5038344" cy="3017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5C6876"/>
                </a:solidFill>
                <a:latin typeface="微软雅黑" panose="020B0503020204020204" charset="-122"/>
              </a:rPr>
              <a:t>记录 trace、token、工具耗时、测试结果、人工介入点和失败原因。</a:t>
            </a:r>
            <a:endParaRPr sz="8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02920" y="6565392"/>
            <a:ext cx="5486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848F9C"/>
                </a:solidFill>
                <a:latin typeface="微软雅黑" panose="020B0503020204020204" charset="-122"/>
              </a:rPr>
              <a:t>Codex 企业级 Agent 平台技术说明</a:t>
            </a:r>
            <a:endParaRPr sz="75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1201400" y="654710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848F9C"/>
                </a:solidFill>
                <a:latin typeface="微软雅黑" panose="020B0503020204020204" charset="-122"/>
              </a:rPr>
              <a:t>06</a:t>
            </a:r>
            <a:endParaRPr sz="80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D9992"/>
                </a:solidFill>
                <a:latin typeface="微软雅黑" panose="020B0503020204020204" charset="-122"/>
              </a:rPr>
              <a:t>06 / 任务生命周期</a:t>
            </a:r>
            <a:endParaRPr sz="950" b="1">
              <a:solidFill>
                <a:srgbClr val="1D9992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1">
                <a:solidFill>
                  <a:srgbClr val="141C26"/>
                </a:solidFill>
                <a:latin typeface="微软雅黑" panose="020B0503020204020204" charset="-122"/>
              </a:rPr>
              <a:t>任务编排：从请求到可验收结果</a:t>
            </a:r>
            <a:endParaRPr sz="25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7" y="969264"/>
            <a:ext cx="104241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5C6876"/>
                </a:solidFill>
                <a:latin typeface="微软雅黑" panose="020B0503020204020204" charset="-122"/>
              </a:rPr>
              <a:t>把 Agent 运行拆成确定的状态机，才能支持审批、暂停、重试、并发和审计。</a:t>
            </a:r>
            <a:endParaRPr sz="10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15727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971800"/>
            <a:ext cx="1572768" cy="310896"/>
          </a:xfrm>
          <a:prstGeom prst="roundRect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044952"/>
            <a:ext cx="1389888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70" b="1">
                <a:solidFill>
                  <a:srgbClr val="FFFFFF"/>
                </a:solidFill>
                <a:latin typeface="微软雅黑" panose="020B0503020204020204" charset="-122"/>
              </a:rPr>
              <a:t>请求接入</a:t>
            </a:r>
            <a:endParaRPr sz="87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2648" y="3410712"/>
            <a:ext cx="1353312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70" b="0">
                <a:solidFill>
                  <a:srgbClr val="5C6876"/>
                </a:solidFill>
                <a:latin typeface="微软雅黑" panose="020B0503020204020204" charset="-122"/>
              </a:rPr>
              <a:t>解析意图、租户、项目、风险等级</a:t>
            </a:r>
            <a:endParaRPr sz="77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2075688" y="3520440"/>
            <a:ext cx="301751" cy="0"/>
          </a:xfrm>
          <a:prstGeom prst="line">
            <a:avLst/>
          </a:prstGeom>
          <a:ln w="12700">
            <a:solidFill>
              <a:srgbClr val="848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23160" y="2971800"/>
            <a:ext cx="15727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23160" y="2971800"/>
            <a:ext cx="1572768" cy="310896"/>
          </a:xfrm>
          <a:prstGeom prst="roundRect">
            <a:avLst/>
          </a:prstGeom>
          <a:solidFill>
            <a:srgbClr val="765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3044952"/>
            <a:ext cx="1389888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70" b="1">
                <a:solidFill>
                  <a:srgbClr val="FFFFFF"/>
                </a:solidFill>
                <a:latin typeface="微软雅黑" panose="020B0503020204020204" charset="-122"/>
              </a:rPr>
              <a:t>计划生成</a:t>
            </a:r>
            <a:endParaRPr sz="87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32888" y="3410712"/>
            <a:ext cx="1353312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70" b="0">
                <a:solidFill>
                  <a:srgbClr val="5C6876"/>
                </a:solidFill>
                <a:latin typeface="微软雅黑" panose="020B0503020204020204" charset="-122"/>
              </a:rPr>
              <a:t>Codex 产出计划，平台生成审批点</a:t>
            </a:r>
            <a:endParaRPr sz="77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3995928" y="3520440"/>
            <a:ext cx="301752" cy="0"/>
          </a:xfrm>
          <a:prstGeom prst="line">
            <a:avLst/>
          </a:prstGeom>
          <a:ln w="12700">
            <a:solidFill>
              <a:srgbClr val="848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43400" y="2971800"/>
            <a:ext cx="15727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43400" y="2971800"/>
            <a:ext cx="1572768" cy="310896"/>
          </a:xfrm>
          <a:prstGeom prst="roundRect">
            <a:avLst/>
          </a:prstGeom>
          <a:solidFill>
            <a:srgbClr val="E4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044952"/>
            <a:ext cx="1389888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70" b="1">
                <a:solidFill>
                  <a:srgbClr val="FFFFFF"/>
                </a:solidFill>
                <a:latin typeface="微软雅黑" panose="020B0503020204020204" charset="-122"/>
              </a:rPr>
              <a:t>沙箱准备</a:t>
            </a:r>
            <a:endParaRPr sz="87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53128" y="3410712"/>
            <a:ext cx="1353312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70" b="0">
                <a:solidFill>
                  <a:srgbClr val="5C6876"/>
                </a:solidFill>
                <a:latin typeface="微软雅黑" panose="020B0503020204020204" charset="-122"/>
              </a:rPr>
              <a:t>拉取代码、装依赖、加载上下文</a:t>
            </a:r>
            <a:endParaRPr sz="77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5916168" y="3520440"/>
            <a:ext cx="301752" cy="0"/>
          </a:xfrm>
          <a:prstGeom prst="line">
            <a:avLst/>
          </a:prstGeom>
          <a:ln w="12700">
            <a:solidFill>
              <a:srgbClr val="848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63640" y="2971800"/>
            <a:ext cx="15727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63640" y="2971800"/>
            <a:ext cx="1572768" cy="310896"/>
          </a:xfrm>
          <a:prstGeom prst="roundRect">
            <a:avLst/>
          </a:prstGeom>
          <a:solidFill>
            <a:srgbClr val="3F9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044952"/>
            <a:ext cx="1389888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70" b="1">
                <a:solidFill>
                  <a:srgbClr val="FFFFFF"/>
                </a:solidFill>
                <a:latin typeface="微软雅黑" panose="020B0503020204020204" charset="-122"/>
              </a:rPr>
              <a:t>工具循环</a:t>
            </a:r>
            <a:endParaRPr sz="87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73368" y="3410712"/>
            <a:ext cx="1353312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70" b="0">
                <a:solidFill>
                  <a:srgbClr val="5C6876"/>
                </a:solidFill>
                <a:latin typeface="微软雅黑" panose="020B0503020204020204" charset="-122"/>
              </a:rPr>
              <a:t>读文件、改代码、跑测试、查外部系统</a:t>
            </a:r>
            <a:endParaRPr sz="77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7836408" y="3520440"/>
            <a:ext cx="301752" cy="0"/>
          </a:xfrm>
          <a:prstGeom prst="line">
            <a:avLst/>
          </a:prstGeom>
          <a:ln w="12700">
            <a:solidFill>
              <a:srgbClr val="848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83880" y="2971800"/>
            <a:ext cx="15727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83880" y="2971800"/>
            <a:ext cx="1572768" cy="310896"/>
          </a:xfrm>
          <a:prstGeom prst="roundRect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3044952"/>
            <a:ext cx="1389888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70" b="1">
                <a:solidFill>
                  <a:srgbClr val="FFFFFF"/>
                </a:solidFill>
                <a:latin typeface="微软雅黑" panose="020B0503020204020204" charset="-122"/>
              </a:rPr>
              <a:t>人工确认</a:t>
            </a:r>
            <a:endParaRPr sz="87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93608" y="3410712"/>
            <a:ext cx="1353312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70" b="0">
                <a:solidFill>
                  <a:srgbClr val="5C6876"/>
                </a:solidFill>
                <a:latin typeface="微软雅黑" panose="020B0503020204020204" charset="-122"/>
              </a:rPr>
              <a:t>审批高风险动作、review diff、补充信息</a:t>
            </a:r>
            <a:endParaRPr sz="77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9756648" y="3520440"/>
            <a:ext cx="301752" cy="0"/>
          </a:xfrm>
          <a:prstGeom prst="line">
            <a:avLst/>
          </a:prstGeom>
          <a:ln w="12700">
            <a:solidFill>
              <a:srgbClr val="848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104120" y="2971800"/>
            <a:ext cx="15727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104120" y="2971800"/>
            <a:ext cx="1572768" cy="310896"/>
          </a:xfrm>
          <a:prstGeom prst="roundRect">
            <a:avLst/>
          </a:prstGeom>
          <a:solidFill>
            <a:srgbClr val="41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95560" y="3044952"/>
            <a:ext cx="1389888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70" b="1">
                <a:solidFill>
                  <a:srgbClr val="FFFFFF"/>
                </a:solidFill>
                <a:latin typeface="微软雅黑" panose="020B0503020204020204" charset="-122"/>
              </a:rPr>
              <a:t>交付归档</a:t>
            </a:r>
            <a:endParaRPr sz="87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213848" y="3410712"/>
            <a:ext cx="1353312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70" b="0">
                <a:solidFill>
                  <a:srgbClr val="5C6876"/>
                </a:solidFill>
                <a:latin typeface="微软雅黑" panose="020B0503020204020204" charset="-122"/>
              </a:rPr>
              <a:t>产出报告、diff、日志、回滚路径</a:t>
            </a:r>
            <a:endParaRPr sz="77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85800" y="1664208"/>
            <a:ext cx="3383280" cy="86868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ccent"/>
          <p:cNvSpPr/>
          <p:nvPr/>
        </p:nvSpPr>
        <p:spPr>
          <a:xfrm>
            <a:off x="685800" y="1664208"/>
            <a:ext cx="73152" cy="868680"/>
          </a:xfrm>
          <a:prstGeom prst="rect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" y="1792224"/>
            <a:ext cx="307238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1">
                <a:solidFill>
                  <a:srgbClr val="141C26"/>
                </a:solidFill>
                <a:latin typeface="微软雅黑" panose="020B0503020204020204" charset="-122"/>
              </a:rPr>
              <a:t>状态机字段</a:t>
            </a:r>
            <a:endParaRPr sz="112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50392" y="2148840"/>
            <a:ext cx="3072384" cy="3017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5C6876"/>
                </a:solidFill>
                <a:latin typeface="微软雅黑" panose="020B0503020204020204" charset="-122"/>
              </a:rPr>
              <a:t>queued / planning / waiting_approval / running / blocked / completed / failed / canceled</a:t>
            </a:r>
            <a:endParaRPr sz="85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4434840" y="1664208"/>
            <a:ext cx="3383280" cy="868680"/>
          </a:xfrm>
          <a:prstGeom prst="roundRect">
            <a:avLst/>
          </a:prstGeom>
          <a:solidFill>
            <a:srgbClr val="FCEFE2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accent"/>
          <p:cNvSpPr/>
          <p:nvPr/>
        </p:nvSpPr>
        <p:spPr>
          <a:xfrm>
            <a:off x="4434840" y="1664208"/>
            <a:ext cx="73152" cy="868680"/>
          </a:xfrm>
          <a:prstGeom prst="rect">
            <a:avLst/>
          </a:prstGeom>
          <a:solidFill>
            <a:srgbClr val="E4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99431" y="1792224"/>
            <a:ext cx="307238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1">
                <a:solidFill>
                  <a:srgbClr val="141C26"/>
                </a:solidFill>
                <a:latin typeface="微软雅黑" panose="020B0503020204020204" charset="-122"/>
              </a:rPr>
              <a:t>关键事件</a:t>
            </a:r>
            <a:endParaRPr sz="112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599431" y="2148840"/>
            <a:ext cx="3072384" cy="3017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5C6876"/>
                </a:solidFill>
                <a:latin typeface="微软雅黑" panose="020B0503020204020204" charset="-122"/>
              </a:rPr>
              <a:t>plan.created、tool.called、approval.required、diff.ready、test.finished、artifact.saved</a:t>
            </a:r>
            <a:endParaRPr sz="85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8183879" y="1664208"/>
            <a:ext cx="3383280" cy="868680"/>
          </a:xfrm>
          <a:prstGeom prst="roundRect">
            <a:avLst/>
          </a:prstGeom>
          <a:solidFill>
            <a:srgbClr val="F2ECFA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accent"/>
          <p:cNvSpPr/>
          <p:nvPr/>
        </p:nvSpPr>
        <p:spPr>
          <a:xfrm>
            <a:off x="8183879" y="1664208"/>
            <a:ext cx="73152" cy="868680"/>
          </a:xfrm>
          <a:prstGeom prst="rect">
            <a:avLst/>
          </a:prstGeom>
          <a:solidFill>
            <a:srgbClr val="765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48471" y="1792224"/>
            <a:ext cx="307238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1">
                <a:solidFill>
                  <a:srgbClr val="141C26"/>
                </a:solidFill>
                <a:latin typeface="微软雅黑" panose="020B0503020204020204" charset="-122"/>
              </a:rPr>
              <a:t>交付对象</a:t>
            </a:r>
            <a:endParaRPr sz="112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348471" y="2148840"/>
            <a:ext cx="3072384" cy="3017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5C6876"/>
                </a:solidFill>
                <a:latin typeface="微软雅黑" panose="020B0503020204020204" charset="-122"/>
              </a:rPr>
              <a:t>任务摘要、证据链、代码 diff、测试日志、风险项、后续建议</a:t>
            </a:r>
            <a:endParaRPr sz="85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02920" y="6565392"/>
            <a:ext cx="5486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848F9C"/>
                </a:solidFill>
                <a:latin typeface="微软雅黑" panose="020B0503020204020204" charset="-122"/>
              </a:rPr>
              <a:t>Codex 企业级 Agent 平台技术说明</a:t>
            </a:r>
            <a:endParaRPr sz="75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1201400" y="654710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848F9C"/>
                </a:solidFill>
                <a:latin typeface="微软雅黑" panose="020B0503020204020204" charset="-122"/>
              </a:rPr>
              <a:t>07</a:t>
            </a:r>
            <a:endParaRPr sz="80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D9992"/>
                </a:solidFill>
                <a:latin typeface="微软雅黑" panose="020B0503020204020204" charset="-122"/>
              </a:rPr>
              <a:t>07 / HITL</a:t>
            </a:r>
            <a:endParaRPr sz="950" b="1">
              <a:solidFill>
                <a:srgbClr val="1D9992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1">
                <a:solidFill>
                  <a:srgbClr val="141C26"/>
                </a:solidFill>
                <a:latin typeface="微软雅黑" panose="020B0503020204020204" charset="-122"/>
              </a:rPr>
              <a:t>用户介入：Human-in-the-Loop 不是弹窗，而是治理机制</a:t>
            </a:r>
            <a:endParaRPr sz="25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7" y="969264"/>
            <a:ext cx="104241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5C6876"/>
                </a:solidFill>
                <a:latin typeface="微软雅黑" panose="020B0503020204020204" charset="-122"/>
              </a:rPr>
              <a:t>企业平台要把人工介入设计成可配置的审批策略，并保存审批原因、审批人和上下文。</a:t>
            </a:r>
            <a:endParaRPr sz="10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1417320" cy="713232"/>
          </a:xfrm>
          <a:prstGeom prst="rect">
            <a:avLst/>
          </a:prstGeom>
          <a:solidFill>
            <a:srgbClr val="7656B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764792"/>
            <a:ext cx="1271016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20" b="1">
                <a:solidFill>
                  <a:srgbClr val="FFFFFF"/>
                </a:solidFill>
                <a:latin typeface="微软雅黑" panose="020B0503020204020204" charset="-122"/>
              </a:rPr>
              <a:t>介入点</a:t>
            </a:r>
            <a:endParaRPr sz="9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20240" y="1627632"/>
            <a:ext cx="2834640" cy="713232"/>
          </a:xfrm>
          <a:prstGeom prst="rect">
            <a:avLst/>
          </a:prstGeom>
          <a:solidFill>
            <a:srgbClr val="7656B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93392" y="1764792"/>
            <a:ext cx="2688336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20" b="1">
                <a:solidFill>
                  <a:srgbClr val="FFFFFF"/>
                </a:solidFill>
                <a:latin typeface="微软雅黑" panose="020B0503020204020204" charset="-122"/>
              </a:rPr>
              <a:t>触发条件</a:t>
            </a:r>
            <a:endParaRPr sz="9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1627632"/>
            <a:ext cx="2971800" cy="713232"/>
          </a:xfrm>
          <a:prstGeom prst="rect">
            <a:avLst/>
          </a:prstGeom>
          <a:solidFill>
            <a:srgbClr val="7656B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8032" y="1764792"/>
            <a:ext cx="2825496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20" b="1">
                <a:solidFill>
                  <a:srgbClr val="FFFFFF"/>
                </a:solidFill>
                <a:latin typeface="微软雅黑" panose="020B0503020204020204" charset="-122"/>
              </a:rPr>
              <a:t>平台动作</a:t>
            </a:r>
            <a:endParaRPr sz="9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726679" y="1627632"/>
            <a:ext cx="3703320" cy="713232"/>
          </a:xfrm>
          <a:prstGeom prst="rect">
            <a:avLst/>
          </a:prstGeom>
          <a:solidFill>
            <a:srgbClr val="7656B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9831" y="1764792"/>
            <a:ext cx="3557015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20" b="1">
                <a:solidFill>
                  <a:srgbClr val="FFFFFF"/>
                </a:solidFill>
                <a:latin typeface="微软雅黑" panose="020B0503020204020204" charset="-122"/>
              </a:rPr>
              <a:t>Codex 处理方式</a:t>
            </a:r>
            <a:endParaRPr sz="9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2920" y="2340864"/>
            <a:ext cx="1417320" cy="713232"/>
          </a:xfrm>
          <a:prstGeom prst="rect">
            <a:avLst/>
          </a:prstGeom>
          <a:solidFill>
            <a:srgbClr val="EFF2F6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2414016"/>
            <a:ext cx="1271016" cy="6035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141C26"/>
                </a:solidFill>
                <a:latin typeface="微软雅黑" panose="020B0503020204020204" charset="-122"/>
              </a:rPr>
              <a:t>计划确认</a:t>
            </a:r>
            <a:endParaRPr sz="83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920240" y="2340864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93392" y="2414016"/>
            <a:ext cx="2688336" cy="6035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跨系统、跨仓库、影响范围不清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754880" y="2340864"/>
            <a:ext cx="2971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28032" y="2414016"/>
            <a:ext cx="2825496" cy="6035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等待用户确认或选择方案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726679" y="2340864"/>
            <a:ext cx="3703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99831" y="2414016"/>
            <a:ext cx="3557015" cy="6035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暂停任务；根据反馈重写计划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2920" y="3054096"/>
            <a:ext cx="1417320" cy="713232"/>
          </a:xfrm>
          <a:prstGeom prst="rect">
            <a:avLst/>
          </a:prstGeom>
          <a:solidFill>
            <a:srgbClr val="EFF2F6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" y="3127248"/>
            <a:ext cx="1271016" cy="6035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141C26"/>
                </a:solidFill>
                <a:latin typeface="微软雅黑" panose="020B0503020204020204" charset="-122"/>
              </a:rPr>
              <a:t>危险工具</a:t>
            </a:r>
            <a:endParaRPr sz="83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920240" y="3054096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93392" y="3127248"/>
            <a:ext cx="2688336" cy="6035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删除、发布、权限变更、生产命令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754880" y="3054096"/>
            <a:ext cx="2971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28032" y="3127248"/>
            <a:ext cx="2825496" cy="6035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按策略要求审批或禁止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726679" y="3054096"/>
            <a:ext cx="3703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99831" y="3127248"/>
            <a:ext cx="3557015" cy="6035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只生成建议；不得直接执行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02920" y="3767328"/>
            <a:ext cx="1417320" cy="713232"/>
          </a:xfrm>
          <a:prstGeom prst="rect">
            <a:avLst/>
          </a:prstGeom>
          <a:solidFill>
            <a:srgbClr val="EFF2F6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" y="3840480"/>
            <a:ext cx="1271016" cy="6035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141C26"/>
                </a:solidFill>
                <a:latin typeface="微软雅黑" panose="020B0503020204020204" charset="-122"/>
              </a:rPr>
              <a:t>外部提交</a:t>
            </a:r>
            <a:endParaRPr sz="83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920240" y="3767328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93392" y="3840480"/>
            <a:ext cx="2688336" cy="6035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发消息、建工单、提交 PR、调用生产 API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754880" y="3767328"/>
            <a:ext cx="2971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28032" y="3840480"/>
            <a:ext cx="2825496" cy="6035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二次确认并记录目的地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726679" y="3767328"/>
            <a:ext cx="3703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99831" y="3840480"/>
            <a:ext cx="3557015" cy="6035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展示 payload 和影响说明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02920" y="4480560"/>
            <a:ext cx="1417320" cy="713232"/>
          </a:xfrm>
          <a:prstGeom prst="rect">
            <a:avLst/>
          </a:prstGeom>
          <a:solidFill>
            <a:srgbClr val="EFF2F6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" y="4553712"/>
            <a:ext cx="1271016" cy="6035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141C26"/>
                </a:solidFill>
                <a:latin typeface="微软雅黑" panose="020B0503020204020204" charset="-122"/>
              </a:rPr>
              <a:t>信息缺口</a:t>
            </a:r>
            <a:endParaRPr sz="83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920240" y="4480560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93392" y="4553712"/>
            <a:ext cx="2688336" cy="6035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缺凭证、缺需求、上下文冲突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754880" y="4480560"/>
            <a:ext cx="2971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28032" y="4553712"/>
            <a:ext cx="2825496" cy="6035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请求补充，不猜测关键事实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726679" y="4480560"/>
            <a:ext cx="3703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99831" y="4553712"/>
            <a:ext cx="3557015" cy="6035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进入 blocked / waiting_input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02920" y="5193792"/>
            <a:ext cx="1417320" cy="713232"/>
          </a:xfrm>
          <a:prstGeom prst="rect">
            <a:avLst/>
          </a:prstGeom>
          <a:solidFill>
            <a:srgbClr val="EFF2F6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" y="5266944"/>
            <a:ext cx="1271016" cy="6035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141C26"/>
                </a:solidFill>
                <a:latin typeface="微软雅黑" panose="020B0503020204020204" charset="-122"/>
              </a:rPr>
              <a:t>高风险变更</a:t>
            </a:r>
            <a:endParaRPr sz="83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920240" y="5193792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93392" y="5266944"/>
            <a:ext cx="2688336" cy="6035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修改安全、财务、合规相关逻辑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754880" y="5193792"/>
            <a:ext cx="2971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28032" y="5266944"/>
            <a:ext cx="2825496" cy="6035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强制代码审查和测试证明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726679" y="5193792"/>
            <a:ext cx="3703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99831" y="5266944"/>
            <a:ext cx="3557015" cy="6035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输出风险说明和回滚方案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02920" y="6565392"/>
            <a:ext cx="5486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848F9C"/>
                </a:solidFill>
                <a:latin typeface="微软雅黑" panose="020B0503020204020204" charset="-122"/>
              </a:rPr>
              <a:t>Codex 企业级 Agent 平台技术说明</a:t>
            </a:r>
            <a:endParaRPr sz="75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1201400" y="654710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848F9C"/>
                </a:solidFill>
                <a:latin typeface="微软雅黑" panose="020B0503020204020204" charset="-122"/>
              </a:rPr>
              <a:t>08</a:t>
            </a:r>
            <a:endParaRPr sz="80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D9992"/>
                </a:solidFill>
                <a:latin typeface="微软雅黑" panose="020B0503020204020204" charset="-122"/>
              </a:rPr>
              <a:t>08 / 多用户</a:t>
            </a:r>
            <a:endParaRPr sz="950" b="1">
              <a:solidFill>
                <a:srgbClr val="1D9992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1">
                <a:solidFill>
                  <a:srgbClr val="141C26"/>
                </a:solidFill>
                <a:latin typeface="微软雅黑" panose="020B0503020204020204" charset="-122"/>
              </a:rPr>
              <a:t>多用户与多租户：隔离优先，协作其次</a:t>
            </a:r>
            <a:endParaRPr sz="25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7" y="969264"/>
            <a:ext cx="104241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5C6876"/>
                </a:solidFill>
                <a:latin typeface="微软雅黑" panose="020B0503020204020204" charset="-122"/>
              </a:rPr>
              <a:t>多用户不是共享一个 Agent 实例，而是共享平台控制面；会话、工具、密钥、工作区都应隔离。</a:t>
            </a:r>
            <a:endParaRPr sz="10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3566160" cy="118872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ccent"/>
          <p:cNvSpPr/>
          <p:nvPr/>
        </p:nvSpPr>
        <p:spPr>
          <a:xfrm>
            <a:off x="594360" y="1664208"/>
            <a:ext cx="73152" cy="1188720"/>
          </a:xfrm>
          <a:prstGeom prst="rect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92224"/>
            <a:ext cx="325526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41C26"/>
                </a:solidFill>
                <a:latin typeface="微软雅黑" panose="020B0503020204020204" charset="-122"/>
              </a:rPr>
              <a:t>身份与权限</a:t>
            </a:r>
            <a:endParaRPr sz="130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758952" y="2221992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30998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141C26"/>
                </a:solidFill>
                <a:latin typeface="微软雅黑" panose="020B0503020204020204" charset="-122"/>
              </a:rPr>
              <a:t>SSO / OIDC</a:t>
            </a:r>
            <a:endParaRPr sz="95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758952" y="2706624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33472"/>
            <a:ext cx="30998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141C26"/>
                </a:solidFill>
                <a:latin typeface="微软雅黑" panose="020B0503020204020204" charset="-122"/>
              </a:rPr>
              <a:t>租户、项目、角色映射</a:t>
            </a:r>
            <a:endParaRPr sz="95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58952" y="3191256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18104"/>
            <a:ext cx="30998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141C26"/>
                </a:solidFill>
                <a:latin typeface="微软雅黑" panose="020B0503020204020204" charset="-122"/>
              </a:rPr>
              <a:t>RBAC + ABAC 策略</a:t>
            </a:r>
            <a:endParaRPr sz="95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343400" y="1664208"/>
            <a:ext cx="3566160" cy="1188720"/>
          </a:xfrm>
          <a:prstGeom prst="roundRect">
            <a:avLst/>
          </a:prstGeom>
          <a:solidFill>
            <a:srgbClr val="FCEFE2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ccent"/>
          <p:cNvSpPr/>
          <p:nvPr/>
        </p:nvSpPr>
        <p:spPr>
          <a:xfrm>
            <a:off x="4343400" y="1664208"/>
            <a:ext cx="73152" cy="1188720"/>
          </a:xfrm>
          <a:prstGeom prst="rect">
            <a:avLst/>
          </a:prstGeom>
          <a:solidFill>
            <a:srgbClr val="E4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1792224"/>
            <a:ext cx="325526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41C26"/>
                </a:solidFill>
                <a:latin typeface="微软雅黑" panose="020B0503020204020204" charset="-122"/>
              </a:rPr>
              <a:t>资源隔离</a:t>
            </a:r>
            <a:endParaRPr sz="130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507992" y="2221992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2148840"/>
            <a:ext cx="30998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141C26"/>
                </a:solidFill>
                <a:latin typeface="微软雅黑" panose="020B0503020204020204" charset="-122"/>
              </a:rPr>
              <a:t>每任务独立工作区</a:t>
            </a:r>
            <a:endParaRPr sz="95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507992" y="2706624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2633472"/>
            <a:ext cx="30998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141C26"/>
                </a:solidFill>
                <a:latin typeface="微软雅黑" panose="020B0503020204020204" charset="-122"/>
              </a:rPr>
              <a:t>租户级配额与限流</a:t>
            </a:r>
            <a:endParaRPr sz="95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507992" y="3191256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118104"/>
            <a:ext cx="30998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141C26"/>
                </a:solidFill>
                <a:latin typeface="微软雅黑" panose="020B0503020204020204" charset="-122"/>
              </a:rPr>
              <a:t>容器 / VM / sandbox</a:t>
            </a:r>
            <a:endParaRPr sz="95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092440" y="1664208"/>
            <a:ext cx="3566160" cy="1188720"/>
          </a:xfrm>
          <a:prstGeom prst="roundRect">
            <a:avLst/>
          </a:prstGeom>
          <a:solidFill>
            <a:srgbClr val="E8F6ED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ccent"/>
          <p:cNvSpPr/>
          <p:nvPr/>
        </p:nvSpPr>
        <p:spPr>
          <a:xfrm>
            <a:off x="8092440" y="1664208"/>
            <a:ext cx="73152" cy="1188720"/>
          </a:xfrm>
          <a:prstGeom prst="rect">
            <a:avLst/>
          </a:prstGeom>
          <a:solidFill>
            <a:srgbClr val="3F9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7031" y="1792224"/>
            <a:ext cx="325526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41C26"/>
                </a:solidFill>
                <a:latin typeface="微软雅黑" panose="020B0503020204020204" charset="-122"/>
              </a:rPr>
              <a:t>数据边界</a:t>
            </a:r>
            <a:endParaRPr sz="130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8257031" y="2221992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2148840"/>
            <a:ext cx="30998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141C26"/>
                </a:solidFill>
                <a:latin typeface="微软雅黑" panose="020B0503020204020204" charset="-122"/>
              </a:rPr>
              <a:t>上下文最小化</a:t>
            </a:r>
            <a:endParaRPr sz="95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8257031" y="2706624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2633472"/>
            <a:ext cx="30998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141C26"/>
                </a:solidFill>
                <a:latin typeface="微软雅黑" panose="020B0503020204020204" charset="-122"/>
              </a:rPr>
              <a:t>密钥不进提示词</a:t>
            </a:r>
            <a:endParaRPr sz="95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8257031" y="3191256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3118104"/>
            <a:ext cx="30998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141C26"/>
                </a:solidFill>
                <a:latin typeface="微软雅黑" panose="020B0503020204020204" charset="-122"/>
              </a:rPr>
              <a:t>跨租户访问默认拒绝</a:t>
            </a:r>
            <a:endParaRPr sz="95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8368" y="3456432"/>
            <a:ext cx="24688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141C26"/>
                </a:solidFill>
                <a:latin typeface="微软雅黑" panose="020B0503020204020204" charset="-122"/>
              </a:rPr>
              <a:t>建议数据模型</a:t>
            </a:r>
            <a:endParaRPr sz="15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77240" y="3977639"/>
            <a:ext cx="11430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D99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197096"/>
            <a:ext cx="96012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80" b="1">
                <a:solidFill>
                  <a:srgbClr val="1D9992"/>
                </a:solidFill>
                <a:latin typeface="微软雅黑" panose="020B0503020204020204" charset="-122"/>
              </a:rPr>
              <a:t>Tenant</a:t>
            </a:r>
            <a:endParaRPr sz="980" b="1">
              <a:solidFill>
                <a:srgbClr val="1D9992"/>
              </a:solidFill>
              <a:latin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2514600" y="3977639"/>
            <a:ext cx="11430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65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06040" y="4197096"/>
            <a:ext cx="96012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80" b="1">
                <a:solidFill>
                  <a:srgbClr val="7656B0"/>
                </a:solidFill>
                <a:latin typeface="微软雅黑" panose="020B0503020204020204" charset="-122"/>
              </a:rPr>
              <a:t>User</a:t>
            </a:r>
            <a:endParaRPr sz="980" b="1">
              <a:solidFill>
                <a:srgbClr val="7656B0"/>
              </a:solidFill>
              <a:latin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4251960" y="3977639"/>
            <a:ext cx="11430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4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43400" y="4197096"/>
            <a:ext cx="96012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80" b="1">
                <a:solidFill>
                  <a:srgbClr val="E4863A"/>
                </a:solidFill>
                <a:latin typeface="微软雅黑" panose="020B0503020204020204" charset="-122"/>
              </a:rPr>
              <a:t>Project</a:t>
            </a:r>
            <a:endParaRPr sz="980" b="1">
              <a:solidFill>
                <a:srgbClr val="E4863A"/>
              </a:solidFill>
              <a:latin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989320" y="3977639"/>
            <a:ext cx="11430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F9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80759" y="4197096"/>
            <a:ext cx="96012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80" b="1">
                <a:solidFill>
                  <a:srgbClr val="3F9C63"/>
                </a:solidFill>
                <a:latin typeface="微软雅黑" panose="020B0503020204020204" charset="-122"/>
              </a:rPr>
              <a:t>Session</a:t>
            </a:r>
            <a:endParaRPr sz="980" b="1">
              <a:solidFill>
                <a:srgbClr val="3F9C63"/>
              </a:solidFill>
              <a:latin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7726679" y="3977639"/>
            <a:ext cx="11430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1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18119" y="4197096"/>
            <a:ext cx="96012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80" b="1">
                <a:solidFill>
                  <a:srgbClr val="4175C4"/>
                </a:solidFill>
                <a:latin typeface="微软雅黑" panose="020B0503020204020204" charset="-122"/>
              </a:rPr>
              <a:t>Task</a:t>
            </a:r>
            <a:endParaRPr sz="980" b="1">
              <a:solidFill>
                <a:srgbClr val="4175C4"/>
              </a:solidFill>
              <a:latin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464040" y="3977639"/>
            <a:ext cx="11430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6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55480" y="4197096"/>
            <a:ext cx="96012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80" b="1">
                <a:solidFill>
                  <a:srgbClr val="C64A4A"/>
                </a:solidFill>
                <a:latin typeface="微软雅黑" panose="020B0503020204020204" charset="-122"/>
              </a:rPr>
              <a:t>Run</a:t>
            </a:r>
            <a:endParaRPr sz="980" b="1">
              <a:solidFill>
                <a:srgbClr val="C64A4A"/>
              </a:solidFill>
              <a:latin typeface="微软雅黑" panose="020B0503020204020204" charset="-122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1920240" y="4297680"/>
            <a:ext cx="594360" cy="0"/>
          </a:xfrm>
          <a:prstGeom prst="line">
            <a:avLst/>
          </a:prstGeom>
          <a:ln w="12700">
            <a:solidFill>
              <a:srgbClr val="848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657600" y="4297680"/>
            <a:ext cx="594360" cy="0"/>
          </a:xfrm>
          <a:prstGeom prst="line">
            <a:avLst/>
          </a:prstGeom>
          <a:ln w="12700">
            <a:solidFill>
              <a:srgbClr val="848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394960" y="4297680"/>
            <a:ext cx="594360" cy="0"/>
          </a:xfrm>
          <a:prstGeom prst="line">
            <a:avLst/>
          </a:prstGeom>
          <a:ln w="12700">
            <a:solidFill>
              <a:srgbClr val="848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132320" y="4297680"/>
            <a:ext cx="594359" cy="0"/>
          </a:xfrm>
          <a:prstGeom prst="line">
            <a:avLst/>
          </a:prstGeom>
          <a:ln w="12700">
            <a:solidFill>
              <a:srgbClr val="848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869680" y="4297680"/>
            <a:ext cx="594360" cy="0"/>
          </a:xfrm>
          <a:prstGeom prst="line">
            <a:avLst/>
          </a:prstGeom>
          <a:ln w="12700">
            <a:solidFill>
              <a:srgbClr val="848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822960" y="5148072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8408" y="5074920"/>
            <a:ext cx="1036015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141C26"/>
                </a:solidFill>
                <a:latin typeface="微软雅黑" panose="020B0503020204020204" charset="-122"/>
              </a:rPr>
              <a:t>Tenant 负责合规边界；Project 负责代码库、工具和知识库权限。</a:t>
            </a:r>
            <a:endParaRPr sz="105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822960" y="5632704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8408" y="5559552"/>
            <a:ext cx="1036015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141C26"/>
                </a:solidFill>
                <a:latin typeface="微软雅黑" panose="020B0503020204020204" charset="-122"/>
              </a:rPr>
              <a:t>Session 保存多轮上下文；Task 表示一个业务目标；Run 表示一次具体执行尝试。</a:t>
            </a:r>
            <a:endParaRPr sz="105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822960" y="6117336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8408" y="6044184"/>
            <a:ext cx="1036015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141C26"/>
                </a:solidFill>
                <a:latin typeface="微软雅黑" panose="020B0503020204020204" charset="-122"/>
              </a:rPr>
              <a:t>审批、审计、成本、trace 都应挂在 Task/Run 上，而不是只保存在聊天文本里。</a:t>
            </a:r>
            <a:endParaRPr sz="105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02920" y="6565392"/>
            <a:ext cx="5486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848F9C"/>
                </a:solidFill>
                <a:latin typeface="微软雅黑" panose="020B0503020204020204" charset="-122"/>
              </a:rPr>
              <a:t>Codex 企业级 Agent 平台技术说明</a:t>
            </a:r>
            <a:endParaRPr sz="75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1201400" y="654710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848F9C"/>
                </a:solidFill>
                <a:latin typeface="微软雅黑" panose="020B0503020204020204" charset="-122"/>
              </a:rPr>
              <a:t>09</a:t>
            </a:r>
            <a:endParaRPr sz="80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D9992"/>
                </a:solidFill>
                <a:latin typeface="微软雅黑" panose="020B0503020204020204" charset="-122"/>
              </a:rPr>
              <a:t>09 / 多并发</a:t>
            </a:r>
            <a:endParaRPr sz="950" b="1">
              <a:solidFill>
                <a:srgbClr val="1D9992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1">
                <a:solidFill>
                  <a:srgbClr val="141C26"/>
                </a:solidFill>
                <a:latin typeface="微软雅黑" panose="020B0503020204020204" charset="-122"/>
              </a:rPr>
              <a:t>多并发：Worker 池 + 队列 + 背压</a:t>
            </a:r>
            <a:endParaRPr sz="25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7" y="969264"/>
            <a:ext cx="104241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5C6876"/>
                </a:solidFill>
                <a:latin typeface="微软雅黑" panose="020B0503020204020204" charset="-122"/>
              </a:rPr>
              <a:t>并发能力来自平台调度，不应让多个用户直接争用同一个 Codex 会话或同一个本地工作区。</a:t>
            </a:r>
            <a:endParaRPr sz="10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011680" cy="105156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1D99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554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1D9992"/>
                </a:solidFill>
                <a:latin typeface="微软雅黑" panose="020B0503020204020204" charset="-122"/>
              </a:rPr>
              <a:t>Task Queue</a:t>
            </a:r>
            <a:endParaRPr sz="1300" b="1">
              <a:solidFill>
                <a:srgbClr val="1D9992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1248" y="2404872"/>
            <a:ext cx="162763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80" b="0">
                <a:solidFill>
                  <a:srgbClr val="5C6876"/>
                </a:solidFill>
                <a:latin typeface="微软雅黑" panose="020B0503020204020204" charset="-122"/>
              </a:rPr>
              <a:t>优先级 / 配额 / SLA</a:t>
            </a:r>
            <a:endParaRPr sz="8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703320" y="1508760"/>
            <a:ext cx="2057400" cy="914400"/>
          </a:xfrm>
          <a:prstGeom prst="roundRect">
            <a:avLst/>
          </a:prstGeom>
          <a:solidFill>
            <a:srgbClr val="FCEFE2"/>
          </a:solidFill>
          <a:ln w="12700">
            <a:solidFill>
              <a:srgbClr val="E4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86784" y="1783080"/>
            <a:ext cx="14630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E4863A"/>
                </a:solidFill>
                <a:latin typeface="微软雅黑" panose="020B0503020204020204" charset="-122"/>
              </a:rPr>
              <a:t>Scheduler</a:t>
            </a:r>
            <a:endParaRPr sz="1300" b="1">
              <a:solidFill>
                <a:srgbClr val="E4863A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703320" y="2926080"/>
            <a:ext cx="2057400" cy="914400"/>
          </a:xfrm>
          <a:prstGeom prst="roundRect">
            <a:avLst/>
          </a:prstGeom>
          <a:solidFill>
            <a:srgbClr val="F2ECFA"/>
          </a:solidFill>
          <a:ln w="12700">
            <a:solidFill>
              <a:srgbClr val="765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59352" y="3200400"/>
            <a:ext cx="1554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7656B0"/>
                </a:solidFill>
                <a:latin typeface="微软雅黑" panose="020B0503020204020204" charset="-122"/>
              </a:rPr>
              <a:t>Policy Engine</a:t>
            </a:r>
            <a:endParaRPr sz="1300" b="1">
              <a:solidFill>
                <a:srgbClr val="7656B0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12280" y="1234440"/>
            <a:ext cx="224028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F9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1435608"/>
            <a:ext cx="1645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30" b="1">
                <a:solidFill>
                  <a:srgbClr val="3F9C63"/>
                </a:solidFill>
                <a:latin typeface="微软雅黑" panose="020B0503020204020204" charset="-122"/>
              </a:rPr>
              <a:t>Worker A</a:t>
            </a:r>
            <a:endParaRPr sz="1230" b="1">
              <a:solidFill>
                <a:srgbClr val="3F9C63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14032" y="1746504"/>
            <a:ext cx="160934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80" b="0">
                <a:solidFill>
                  <a:srgbClr val="5C6876"/>
                </a:solidFill>
                <a:latin typeface="微软雅黑" panose="020B0503020204020204" charset="-122"/>
              </a:rPr>
              <a:t>独立工作区 + 工具白名单</a:t>
            </a:r>
            <a:endParaRPr sz="7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812280" y="2468880"/>
            <a:ext cx="224028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1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2670048"/>
            <a:ext cx="1645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30" b="1">
                <a:solidFill>
                  <a:srgbClr val="4175C4"/>
                </a:solidFill>
                <a:latin typeface="微软雅黑" panose="020B0503020204020204" charset="-122"/>
              </a:rPr>
              <a:t>Worker B</a:t>
            </a:r>
            <a:endParaRPr sz="1230" b="1">
              <a:solidFill>
                <a:srgbClr val="4175C4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14032" y="2980944"/>
            <a:ext cx="160934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80" b="0">
                <a:solidFill>
                  <a:srgbClr val="5C6876"/>
                </a:solidFill>
                <a:latin typeface="微软雅黑" panose="020B0503020204020204" charset="-122"/>
              </a:rPr>
              <a:t>独立工作区 + 工具白名单</a:t>
            </a:r>
            <a:endParaRPr sz="7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812280" y="3703320"/>
            <a:ext cx="224028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6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3904488"/>
            <a:ext cx="1645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30" b="1">
                <a:solidFill>
                  <a:srgbClr val="C64A4A"/>
                </a:solidFill>
                <a:latin typeface="微软雅黑" panose="020B0503020204020204" charset="-122"/>
              </a:rPr>
              <a:t>Worker C</a:t>
            </a:r>
            <a:endParaRPr sz="1230" b="1">
              <a:solidFill>
                <a:srgbClr val="C64A4A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14032" y="4215384"/>
            <a:ext cx="160934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80" b="0">
                <a:solidFill>
                  <a:srgbClr val="5C6876"/>
                </a:solidFill>
                <a:latin typeface="微软雅黑" panose="020B0503020204020204" charset="-122"/>
              </a:rPr>
              <a:t>独立工作区 + 工具白名单</a:t>
            </a:r>
            <a:endParaRPr sz="7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829800" y="1828800"/>
            <a:ext cx="1737360" cy="1051560"/>
          </a:xfrm>
          <a:prstGeom prst="roundRect">
            <a:avLst/>
          </a:prstGeom>
          <a:solidFill>
            <a:srgbClr val="E8F0FC"/>
          </a:solidFill>
          <a:ln w="12700">
            <a:solidFill>
              <a:srgbClr val="41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04120" y="2057400"/>
            <a:ext cx="11887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30" b="1">
                <a:solidFill>
                  <a:srgbClr val="4175C4"/>
                </a:solidFill>
                <a:latin typeface="微软雅黑" panose="020B0503020204020204" charset="-122"/>
              </a:rPr>
              <a:t>Event Bus</a:t>
            </a:r>
            <a:endParaRPr sz="1230" b="1">
              <a:solidFill>
                <a:srgbClr val="4175C4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076688" y="2404872"/>
            <a:ext cx="123444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流式进度 / 回调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 flipV="1">
            <a:off x="2697480" y="1965960"/>
            <a:ext cx="1005840" cy="393192"/>
          </a:xfrm>
          <a:prstGeom prst="line">
            <a:avLst/>
          </a:prstGeom>
          <a:ln w="16510">
            <a:solidFill>
              <a:srgbClr val="848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760720" y="1691640"/>
            <a:ext cx="1051560" cy="274320"/>
          </a:xfrm>
          <a:prstGeom prst="line">
            <a:avLst/>
          </a:prstGeom>
          <a:ln w="16510">
            <a:solidFill>
              <a:srgbClr val="848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760720" y="1965960"/>
            <a:ext cx="1051560" cy="960120"/>
          </a:xfrm>
          <a:prstGeom prst="line">
            <a:avLst/>
          </a:prstGeom>
          <a:ln w="16510">
            <a:solidFill>
              <a:srgbClr val="848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760720" y="3383280"/>
            <a:ext cx="1051560" cy="365759"/>
          </a:xfrm>
          <a:prstGeom prst="line">
            <a:avLst/>
          </a:prstGeom>
          <a:ln w="16510">
            <a:solidFill>
              <a:srgbClr val="848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052560" y="2331720"/>
            <a:ext cx="777240" cy="0"/>
          </a:xfrm>
          <a:prstGeom prst="line">
            <a:avLst/>
          </a:prstGeom>
          <a:ln w="16510">
            <a:solidFill>
              <a:srgbClr val="848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85800" y="4983480"/>
            <a:ext cx="35204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ccent"/>
          <p:cNvSpPr/>
          <p:nvPr/>
        </p:nvSpPr>
        <p:spPr>
          <a:xfrm>
            <a:off x="685800" y="4983480"/>
            <a:ext cx="73152" cy="914400"/>
          </a:xfrm>
          <a:prstGeom prst="rect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111496"/>
            <a:ext cx="32095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41C26"/>
                </a:solidFill>
                <a:latin typeface="微软雅黑" panose="020B0503020204020204" charset="-122"/>
              </a:rPr>
              <a:t>调度策略</a:t>
            </a:r>
            <a:endParaRPr sz="11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0392" y="5468112"/>
            <a:ext cx="3209544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5C6876"/>
                </a:solidFill>
                <a:latin typeface="微软雅黑" panose="020B0503020204020204" charset="-122"/>
              </a:rPr>
              <a:t>按租户、项目、任务风险、模型成本、队列长度、SLA 计算优先级。</a:t>
            </a:r>
            <a:endParaRPr sz="9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343400" y="4983480"/>
            <a:ext cx="35204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ccent"/>
          <p:cNvSpPr/>
          <p:nvPr/>
        </p:nvSpPr>
        <p:spPr>
          <a:xfrm>
            <a:off x="4343400" y="4983480"/>
            <a:ext cx="73152" cy="914400"/>
          </a:xfrm>
          <a:prstGeom prst="rect">
            <a:avLst/>
          </a:prstGeom>
          <a:solidFill>
            <a:srgbClr val="E4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07992" y="5111496"/>
            <a:ext cx="32095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41C26"/>
                </a:solidFill>
                <a:latin typeface="微软雅黑" panose="020B0503020204020204" charset="-122"/>
              </a:rPr>
              <a:t>背压策略</a:t>
            </a:r>
            <a:endParaRPr sz="11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507992" y="5468112"/>
            <a:ext cx="3209544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5C6876"/>
                </a:solidFill>
                <a:latin typeface="微软雅黑" panose="020B0503020204020204" charset="-122"/>
              </a:rPr>
              <a:t>超配额降级、排队、暂停低优先级任务；对用户明确展示等待原因。</a:t>
            </a:r>
            <a:endParaRPr sz="9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001000" y="4983480"/>
            <a:ext cx="35204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ccent"/>
          <p:cNvSpPr/>
          <p:nvPr/>
        </p:nvSpPr>
        <p:spPr>
          <a:xfrm>
            <a:off x="8001000" y="4983480"/>
            <a:ext cx="73152" cy="914400"/>
          </a:xfrm>
          <a:prstGeom prst="rect">
            <a:avLst/>
          </a:prstGeom>
          <a:solidFill>
            <a:srgbClr val="765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65592" y="5111496"/>
            <a:ext cx="32095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41C26"/>
                </a:solidFill>
                <a:latin typeface="微软雅黑" panose="020B0503020204020204" charset="-122"/>
              </a:rPr>
              <a:t>取消与恢复</a:t>
            </a:r>
            <a:endParaRPr sz="11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165592" y="5468112"/>
            <a:ext cx="3209544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5C6876"/>
                </a:solidFill>
                <a:latin typeface="微软雅黑" panose="020B0503020204020204" charset="-122"/>
              </a:rPr>
              <a:t>支持 cancel、resume、retry；用 checkpoint 保存上下文和中间产物。</a:t>
            </a:r>
            <a:endParaRPr sz="9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02920" y="6565392"/>
            <a:ext cx="5486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848F9C"/>
                </a:solidFill>
                <a:latin typeface="微软雅黑" panose="020B0503020204020204" charset="-122"/>
              </a:rPr>
              <a:t>Codex 企业级 Agent 平台技术说明</a:t>
            </a:r>
            <a:endParaRPr sz="75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1201400" y="654710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848F9C"/>
                </a:solidFill>
                <a:latin typeface="微软雅黑" panose="020B0503020204020204" charset="-122"/>
              </a:rPr>
              <a:t>10</a:t>
            </a:r>
            <a:endParaRPr sz="80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D9992"/>
                </a:solidFill>
                <a:latin typeface="微软雅黑" panose="020B0503020204020204" charset="-122"/>
              </a:rPr>
              <a:t>10 / 多轮会话</a:t>
            </a:r>
            <a:endParaRPr sz="950" b="1">
              <a:solidFill>
                <a:srgbClr val="1D9992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1">
                <a:solidFill>
                  <a:srgbClr val="141C26"/>
                </a:solidFill>
                <a:latin typeface="微软雅黑" panose="020B0503020204020204" charset="-122"/>
              </a:rPr>
              <a:t>多轮会话：把聊天历史升级为可治理上下文</a:t>
            </a:r>
            <a:endParaRPr sz="25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7" y="969264"/>
            <a:ext cx="104241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5C6876"/>
                </a:solidFill>
                <a:latin typeface="微软雅黑" panose="020B0503020204020204" charset="-122"/>
              </a:rPr>
              <a:t>多轮不是无限追加消息，而是对上下文进行分层、压缩、检索和权限过滤。</a:t>
            </a:r>
            <a:endParaRPr sz="10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2651760" cy="1078992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ccent"/>
          <p:cNvSpPr/>
          <p:nvPr/>
        </p:nvSpPr>
        <p:spPr>
          <a:xfrm>
            <a:off x="594360" y="1691640"/>
            <a:ext cx="73152" cy="1078992"/>
          </a:xfrm>
          <a:prstGeom prst="rect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819656"/>
            <a:ext cx="234086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141C26"/>
                </a:solidFill>
                <a:latin typeface="微软雅黑" panose="020B0503020204020204" charset="-122"/>
              </a:rPr>
              <a:t>会话状态</a:t>
            </a:r>
            <a:endParaRPr sz="12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8952" y="2176272"/>
            <a:ext cx="2340864" cy="5120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C6876"/>
                </a:solidFill>
                <a:latin typeface="微软雅黑" panose="020B0503020204020204" charset="-122"/>
              </a:rPr>
              <a:t>用户目标、约束、已确认决策、待办、阻塞点。</a:t>
            </a:r>
            <a:endParaRPr sz="90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520440" y="1691640"/>
            <a:ext cx="2651760" cy="1078992"/>
          </a:xfrm>
          <a:prstGeom prst="roundRect">
            <a:avLst/>
          </a:prstGeom>
          <a:solidFill>
            <a:srgbClr val="FCEFE2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ccent"/>
          <p:cNvSpPr/>
          <p:nvPr/>
        </p:nvSpPr>
        <p:spPr>
          <a:xfrm>
            <a:off x="3520440" y="1691640"/>
            <a:ext cx="73152" cy="1078992"/>
          </a:xfrm>
          <a:prstGeom prst="rect">
            <a:avLst/>
          </a:prstGeom>
          <a:solidFill>
            <a:srgbClr val="E4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1819656"/>
            <a:ext cx="234086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141C26"/>
                </a:solidFill>
                <a:latin typeface="微软雅黑" panose="020B0503020204020204" charset="-122"/>
              </a:rPr>
              <a:t>任务状态</a:t>
            </a:r>
            <a:endParaRPr sz="12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85032" y="2176272"/>
            <a:ext cx="2340864" cy="5120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C6876"/>
                </a:solidFill>
                <a:latin typeface="微软雅黑" panose="020B0503020204020204" charset="-122"/>
              </a:rPr>
              <a:t>计划、审批、工具日志、diff、测试结果、交付物。</a:t>
            </a:r>
            <a:endParaRPr sz="90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46520" y="1691640"/>
            <a:ext cx="2651760" cy="1078992"/>
          </a:xfrm>
          <a:prstGeom prst="roundRect">
            <a:avLst/>
          </a:prstGeom>
          <a:solidFill>
            <a:srgbClr val="F2ECFA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ccent"/>
          <p:cNvSpPr/>
          <p:nvPr/>
        </p:nvSpPr>
        <p:spPr>
          <a:xfrm>
            <a:off x="6446520" y="1691640"/>
            <a:ext cx="73152" cy="1078992"/>
          </a:xfrm>
          <a:prstGeom prst="rect">
            <a:avLst/>
          </a:prstGeom>
          <a:solidFill>
            <a:srgbClr val="765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1819656"/>
            <a:ext cx="234086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141C26"/>
                </a:solidFill>
                <a:latin typeface="微软雅黑" panose="020B0503020204020204" charset="-122"/>
              </a:rPr>
              <a:t>知识状态</a:t>
            </a:r>
            <a:endParaRPr sz="12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11112" y="2176272"/>
            <a:ext cx="2340864" cy="5120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C6876"/>
                </a:solidFill>
                <a:latin typeface="微软雅黑" panose="020B0503020204020204" charset="-122"/>
              </a:rPr>
              <a:t>仓库结构、文档检索、业务规则、历史缺陷。</a:t>
            </a:r>
            <a:endParaRPr sz="90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372600" y="1691640"/>
            <a:ext cx="2468880" cy="1078992"/>
          </a:xfrm>
          <a:prstGeom prst="roundRect">
            <a:avLst/>
          </a:prstGeom>
          <a:solidFill>
            <a:srgbClr val="E8F6ED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ccent"/>
          <p:cNvSpPr/>
          <p:nvPr/>
        </p:nvSpPr>
        <p:spPr>
          <a:xfrm>
            <a:off x="9372600" y="1691640"/>
            <a:ext cx="73152" cy="1078992"/>
          </a:xfrm>
          <a:prstGeom prst="rect">
            <a:avLst/>
          </a:prstGeom>
          <a:solidFill>
            <a:srgbClr val="3F9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37192" y="1819656"/>
            <a:ext cx="215798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141C26"/>
                </a:solidFill>
                <a:latin typeface="微软雅黑" panose="020B0503020204020204" charset="-122"/>
              </a:rPr>
              <a:t>权限状态</a:t>
            </a:r>
            <a:endParaRPr sz="12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537192" y="2176272"/>
            <a:ext cx="2157984" cy="5120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C6876"/>
                </a:solidFill>
                <a:latin typeface="微软雅黑" panose="020B0503020204020204" charset="-122"/>
              </a:rPr>
              <a:t>当前用户可见数据和可调用工具。</a:t>
            </a:r>
            <a:endParaRPr sz="90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8368" y="3429000"/>
            <a:ext cx="25603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141C26"/>
                </a:solidFill>
                <a:latin typeface="微软雅黑" panose="020B0503020204020204" charset="-122"/>
              </a:rPr>
              <a:t>上下文构造流程</a:t>
            </a:r>
            <a:endParaRPr sz="15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85800" y="3977639"/>
            <a:ext cx="1508760" cy="822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D99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4169663"/>
            <a:ext cx="129844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30" b="1">
                <a:solidFill>
                  <a:srgbClr val="141C26"/>
                </a:solidFill>
                <a:latin typeface="微软雅黑" panose="020B0503020204020204" charset="-122"/>
              </a:rPr>
              <a:t>历史对话</a:t>
            </a:r>
            <a:endParaRPr sz="103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95528" y="4462272"/>
            <a:ext cx="1298448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00" b="0">
                <a:solidFill>
                  <a:srgbClr val="5C6876"/>
                </a:solidFill>
                <a:latin typeface="微软雅黑" panose="020B0503020204020204" charset="-122"/>
              </a:rPr>
              <a:t>摘要压缩</a:t>
            </a:r>
            <a:endParaRPr sz="80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2194560" y="4389120"/>
            <a:ext cx="667512" cy="0"/>
          </a:xfrm>
          <a:prstGeom prst="line">
            <a:avLst/>
          </a:prstGeom>
          <a:ln w="16510">
            <a:solidFill>
              <a:srgbClr val="848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926080" y="3977639"/>
            <a:ext cx="1508760" cy="822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4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35808" y="4169663"/>
            <a:ext cx="129844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30" b="1">
                <a:solidFill>
                  <a:srgbClr val="141C26"/>
                </a:solidFill>
                <a:latin typeface="微软雅黑" panose="020B0503020204020204" charset="-122"/>
              </a:rPr>
              <a:t>任务产物</a:t>
            </a:r>
            <a:endParaRPr sz="103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035808" y="4462272"/>
            <a:ext cx="1298448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00" b="0">
                <a:solidFill>
                  <a:srgbClr val="5C6876"/>
                </a:solidFill>
                <a:latin typeface="微软雅黑" panose="020B0503020204020204" charset="-122"/>
              </a:rPr>
              <a:t>证据保留</a:t>
            </a:r>
            <a:endParaRPr sz="80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4434840" y="4389120"/>
            <a:ext cx="667512" cy="0"/>
          </a:xfrm>
          <a:prstGeom prst="line">
            <a:avLst/>
          </a:prstGeom>
          <a:ln w="16510">
            <a:solidFill>
              <a:srgbClr val="848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166360" y="3977639"/>
            <a:ext cx="1508760" cy="822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65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76088" y="4169663"/>
            <a:ext cx="129844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30" b="1">
                <a:solidFill>
                  <a:srgbClr val="141C26"/>
                </a:solidFill>
                <a:latin typeface="微软雅黑" panose="020B0503020204020204" charset="-122"/>
              </a:rPr>
              <a:t>外部知识</a:t>
            </a:r>
            <a:endParaRPr sz="103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276088" y="4462272"/>
            <a:ext cx="1298448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00" b="0">
                <a:solidFill>
                  <a:srgbClr val="5C6876"/>
                </a:solidFill>
                <a:latin typeface="微软雅黑" panose="020B0503020204020204" charset="-122"/>
              </a:rPr>
              <a:t>RAG 检索</a:t>
            </a:r>
            <a:endParaRPr sz="80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6675120" y="4389120"/>
            <a:ext cx="667512" cy="0"/>
          </a:xfrm>
          <a:prstGeom prst="line">
            <a:avLst/>
          </a:prstGeom>
          <a:ln w="16510">
            <a:solidFill>
              <a:srgbClr val="848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406640" y="3977639"/>
            <a:ext cx="1508760" cy="822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F9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6368" y="4169663"/>
            <a:ext cx="129844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30" b="1">
                <a:solidFill>
                  <a:srgbClr val="141C26"/>
                </a:solidFill>
                <a:latin typeface="微软雅黑" panose="020B0503020204020204" charset="-122"/>
              </a:rPr>
              <a:t>权限过滤</a:t>
            </a:r>
            <a:endParaRPr sz="103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516368" y="4462272"/>
            <a:ext cx="1298448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00" b="0">
                <a:solidFill>
                  <a:srgbClr val="5C6876"/>
                </a:solidFill>
                <a:latin typeface="微软雅黑" panose="020B0503020204020204" charset="-122"/>
              </a:rPr>
              <a:t>最小可见</a:t>
            </a:r>
            <a:endParaRPr sz="80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8915400" y="4389120"/>
            <a:ext cx="667512" cy="0"/>
          </a:xfrm>
          <a:prstGeom prst="line">
            <a:avLst/>
          </a:prstGeom>
          <a:ln w="16510">
            <a:solidFill>
              <a:srgbClr val="848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646920" y="3977639"/>
            <a:ext cx="1508760" cy="822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1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56648" y="4169663"/>
            <a:ext cx="129844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30" b="1">
                <a:solidFill>
                  <a:srgbClr val="141C26"/>
                </a:solidFill>
                <a:latin typeface="微软雅黑" panose="020B0503020204020204" charset="-122"/>
              </a:rPr>
              <a:t>Codex 输入</a:t>
            </a:r>
            <a:endParaRPr sz="103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756648" y="4462272"/>
            <a:ext cx="1298448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00" b="0">
                <a:solidFill>
                  <a:srgbClr val="5C6876"/>
                </a:solidFill>
                <a:latin typeface="微软雅黑" panose="020B0503020204020204" charset="-122"/>
              </a:rPr>
              <a:t>结构化上下文</a:t>
            </a:r>
            <a:endParaRPr sz="80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822960" y="5422392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8408" y="5349240"/>
            <a:ext cx="1008583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0">
                <a:solidFill>
                  <a:srgbClr val="141C26"/>
                </a:solidFill>
                <a:latin typeface="微软雅黑" panose="020B0503020204020204" charset="-122"/>
              </a:rPr>
              <a:t>会话可跨多轮保存，但每次执行仍要重新计算权限和工具白名单。</a:t>
            </a:r>
            <a:endParaRPr sz="103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822960" y="5907024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8408" y="5833872"/>
            <a:ext cx="1008583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0">
                <a:solidFill>
                  <a:srgbClr val="141C26"/>
                </a:solidFill>
                <a:latin typeface="微软雅黑" panose="020B0503020204020204" charset="-122"/>
              </a:rPr>
              <a:t>摘要只保留决策和事实，敏感原文优先保存在受控存储中，按需检索。</a:t>
            </a:r>
            <a:endParaRPr sz="103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822960" y="6391656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8408" y="6318504"/>
            <a:ext cx="1008583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0">
                <a:solidFill>
                  <a:srgbClr val="141C26"/>
                </a:solidFill>
                <a:latin typeface="微软雅黑" panose="020B0503020204020204" charset="-122"/>
              </a:rPr>
              <a:t>将“用户偏好”和“企业规则”分开，企业策略优先级更高。</a:t>
            </a:r>
            <a:endParaRPr sz="103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02920" y="6565392"/>
            <a:ext cx="5486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848F9C"/>
                </a:solidFill>
                <a:latin typeface="微软雅黑" panose="020B0503020204020204" charset="-122"/>
              </a:rPr>
              <a:t>Codex 企业级 Agent 平台技术说明</a:t>
            </a:r>
            <a:endParaRPr sz="75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1201400" y="654710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848F9C"/>
                </a:solidFill>
                <a:latin typeface="微软雅黑" panose="020B0503020204020204" charset="-122"/>
              </a:rPr>
              <a:t>11</a:t>
            </a:r>
            <a:endParaRPr sz="80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D9992"/>
                </a:solidFill>
                <a:latin typeface="微软雅黑" panose="020B0503020204020204" charset="-122"/>
              </a:rPr>
              <a:t>11 / 外部系统连接</a:t>
            </a:r>
            <a:endParaRPr sz="950" b="1">
              <a:solidFill>
                <a:srgbClr val="1D9992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1">
                <a:solidFill>
                  <a:srgbClr val="141C26"/>
                </a:solidFill>
                <a:latin typeface="微软雅黑" panose="020B0503020204020204" charset="-122"/>
              </a:rPr>
              <a:t>外部系统连接：统一工具注册，而不是到处写临时脚本</a:t>
            </a:r>
            <a:endParaRPr sz="25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7" y="969264"/>
            <a:ext cx="104241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5C6876"/>
                </a:solidFill>
                <a:latin typeface="微软雅黑" panose="020B0503020204020204" charset="-122"/>
              </a:rPr>
              <a:t>Codex 负责推理与执行规划；平台负责鉴权、路由、协议转换、审计和失败恢复。</a:t>
            </a:r>
            <a:endParaRPr sz="10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0" y="2743200"/>
            <a:ext cx="2743200" cy="960120"/>
          </a:xfrm>
          <a:prstGeom prst="roundRect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83480" y="2953512"/>
            <a:ext cx="22860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Tool Registry
MCP / API Gateway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14400" y="1600200"/>
            <a:ext cx="224028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99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46504"/>
            <a:ext cx="196596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20" b="1">
                <a:solidFill>
                  <a:srgbClr val="1D9992"/>
                </a:solidFill>
                <a:latin typeface="微软雅黑" panose="020B0503020204020204" charset="-122"/>
              </a:rPr>
              <a:t>Git 平台</a:t>
            </a:r>
            <a:endParaRPr sz="1020" b="1">
              <a:solidFill>
                <a:srgbClr val="1D9992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1560" y="2039112"/>
            <a:ext cx="1965960" cy="11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40" b="0">
                <a:solidFill>
                  <a:srgbClr val="5C6876"/>
                </a:solidFill>
                <a:latin typeface="微软雅黑" panose="020B0503020204020204" charset="-122"/>
              </a:rPr>
              <a:t>PR / diff / branch</a:t>
            </a:r>
            <a:endParaRPr sz="74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2029967" y="2350008"/>
            <a:ext cx="4096513" cy="868680"/>
          </a:xfrm>
          <a:prstGeom prst="line">
            <a:avLst/>
          </a:prstGeom>
          <a:ln w="11430">
            <a:solidFill>
              <a:srgbClr val="848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840480" y="1234440"/>
            <a:ext cx="224028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40" y="1380744"/>
            <a:ext cx="196596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20" b="1">
                <a:solidFill>
                  <a:srgbClr val="E4863A"/>
                </a:solidFill>
                <a:latin typeface="微软雅黑" panose="020B0503020204020204" charset="-122"/>
              </a:rPr>
              <a:t>CI/CD</a:t>
            </a:r>
            <a:endParaRPr sz="1020" b="1">
              <a:solidFill>
                <a:srgbClr val="E4863A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77640" y="1673352"/>
            <a:ext cx="1965960" cy="11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40" b="0">
                <a:solidFill>
                  <a:srgbClr val="5C6876"/>
                </a:solidFill>
                <a:latin typeface="微软雅黑" panose="020B0503020204020204" charset="-122"/>
              </a:rPr>
              <a:t>构建 / 测试 / 发布</a:t>
            </a:r>
            <a:endParaRPr sz="74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4956048" y="1984248"/>
            <a:ext cx="1170432" cy="1234440"/>
          </a:xfrm>
          <a:prstGeom prst="line">
            <a:avLst/>
          </a:prstGeom>
          <a:ln w="11430">
            <a:solidFill>
              <a:srgbClr val="848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15200" y="1234440"/>
            <a:ext cx="224028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65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1380744"/>
            <a:ext cx="196596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20" b="1">
                <a:solidFill>
                  <a:srgbClr val="7656B0"/>
                </a:solidFill>
                <a:latin typeface="微软雅黑" panose="020B0503020204020204" charset="-122"/>
              </a:rPr>
              <a:t>知识库</a:t>
            </a:r>
            <a:endParaRPr sz="1020" b="1">
              <a:solidFill>
                <a:srgbClr val="7656B0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52360" y="1673352"/>
            <a:ext cx="1965960" cy="11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40" b="0">
                <a:solidFill>
                  <a:srgbClr val="5C6876"/>
                </a:solidFill>
                <a:latin typeface="微软雅黑" panose="020B0503020204020204" charset="-122"/>
              </a:rPr>
              <a:t>Confluence / 文档 / FAQ</a:t>
            </a:r>
            <a:endParaRPr sz="74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 flipH="1">
            <a:off x="6126480" y="1984248"/>
            <a:ext cx="2304288" cy="1234440"/>
          </a:xfrm>
          <a:prstGeom prst="line">
            <a:avLst/>
          </a:prstGeom>
          <a:ln w="11430">
            <a:solidFill>
              <a:srgbClr val="848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372600" y="2103120"/>
            <a:ext cx="224028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F9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2249424"/>
            <a:ext cx="196596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20" b="1">
                <a:solidFill>
                  <a:srgbClr val="3F9C63"/>
                </a:solidFill>
                <a:latin typeface="微软雅黑" panose="020B0503020204020204" charset="-122"/>
              </a:rPr>
              <a:t>工单系统</a:t>
            </a:r>
            <a:endParaRPr sz="1020" b="1">
              <a:solidFill>
                <a:srgbClr val="3F9C63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509760" y="2542032"/>
            <a:ext cx="1965960" cy="11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40" b="0">
                <a:solidFill>
                  <a:srgbClr val="5C6876"/>
                </a:solidFill>
                <a:latin typeface="微软雅黑" panose="020B0503020204020204" charset="-122"/>
              </a:rPr>
              <a:t>Jira / 禅道 / ServiceNow</a:t>
            </a:r>
            <a:endParaRPr sz="74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 flipH="1">
            <a:off x="6126480" y="2852927"/>
            <a:ext cx="4361688" cy="365761"/>
          </a:xfrm>
          <a:prstGeom prst="line">
            <a:avLst/>
          </a:prstGeom>
          <a:ln w="11430">
            <a:solidFill>
              <a:srgbClr val="848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909560" y="4617720"/>
            <a:ext cx="224028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1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4764024"/>
            <a:ext cx="196596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20" b="1">
                <a:solidFill>
                  <a:srgbClr val="4175C4"/>
                </a:solidFill>
                <a:latin typeface="微软雅黑" panose="020B0503020204020204" charset="-122"/>
              </a:rPr>
              <a:t>数据系统</a:t>
            </a:r>
            <a:endParaRPr sz="1020" b="1">
              <a:solidFill>
                <a:srgbClr val="4175C4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046720" y="5056631"/>
            <a:ext cx="1965960" cy="11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40" b="0">
                <a:solidFill>
                  <a:srgbClr val="5C6876"/>
                </a:solidFill>
                <a:latin typeface="微软雅黑" panose="020B0503020204020204" charset="-122"/>
              </a:rPr>
              <a:t>DB / BI / 日志</a:t>
            </a:r>
            <a:endParaRPr sz="74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6126480" y="3218688"/>
            <a:ext cx="2898648" cy="1399032"/>
          </a:xfrm>
          <a:prstGeom prst="line">
            <a:avLst/>
          </a:prstGeom>
          <a:ln w="11430">
            <a:solidFill>
              <a:srgbClr val="848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926080" y="4709160"/>
            <a:ext cx="224028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6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63240" y="4855464"/>
            <a:ext cx="196596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20" b="1">
                <a:solidFill>
                  <a:srgbClr val="C64A4A"/>
                </a:solidFill>
                <a:latin typeface="微软雅黑" panose="020B0503020204020204" charset="-122"/>
              </a:rPr>
              <a:t>业务 API</a:t>
            </a:r>
            <a:endParaRPr sz="1020" b="1">
              <a:solidFill>
                <a:srgbClr val="C64A4A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063240" y="5148072"/>
            <a:ext cx="1965960" cy="11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40" b="0">
                <a:solidFill>
                  <a:srgbClr val="5C6876"/>
                </a:solidFill>
                <a:latin typeface="微软雅黑" panose="020B0503020204020204" charset="-122"/>
              </a:rPr>
              <a:t>CRM / ERP / 内部服务</a:t>
            </a:r>
            <a:endParaRPr sz="74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 flipV="1">
            <a:off x="4041648" y="3218688"/>
            <a:ext cx="2084832" cy="1490472"/>
          </a:xfrm>
          <a:prstGeom prst="line">
            <a:avLst/>
          </a:prstGeom>
          <a:ln w="11430">
            <a:solidFill>
              <a:srgbClr val="848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22960" y="3520440"/>
            <a:ext cx="224028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8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3666744"/>
            <a:ext cx="196596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20" b="1">
                <a:solidFill>
                  <a:srgbClr val="848F9C"/>
                </a:solidFill>
                <a:latin typeface="微软雅黑" panose="020B0503020204020204" charset="-122"/>
              </a:rPr>
              <a:t>RPA / 桌面</a:t>
            </a:r>
            <a:endParaRPr sz="1020" b="1">
              <a:solidFill>
                <a:srgbClr val="848F9C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60120" y="3959352"/>
            <a:ext cx="1965960" cy="11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40" b="0">
                <a:solidFill>
                  <a:srgbClr val="5C6876"/>
                </a:solidFill>
                <a:latin typeface="微软雅黑" panose="020B0503020204020204" charset="-122"/>
              </a:rPr>
              <a:t>WPS / 浏览器 / 旧系统</a:t>
            </a:r>
            <a:endParaRPr sz="74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 flipV="1">
            <a:off x="1938528" y="3218688"/>
            <a:ext cx="4187952" cy="301752"/>
          </a:xfrm>
          <a:prstGeom prst="line">
            <a:avLst/>
          </a:prstGeom>
          <a:ln w="11430">
            <a:solidFill>
              <a:srgbClr val="848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22960" y="5715000"/>
            <a:ext cx="10744200" cy="530352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ccent"/>
          <p:cNvSpPr/>
          <p:nvPr/>
        </p:nvSpPr>
        <p:spPr>
          <a:xfrm>
            <a:off x="822960" y="5715000"/>
            <a:ext cx="73152" cy="530352"/>
          </a:xfrm>
          <a:prstGeom prst="rect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2" y="5843016"/>
            <a:ext cx="1043330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41C26"/>
                </a:solidFill>
                <a:latin typeface="微软雅黑" panose="020B0503020204020204" charset="-122"/>
              </a:rPr>
              <a:t>开发原则</a:t>
            </a:r>
            <a:endParaRPr sz="10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87552" y="6163056"/>
            <a:ext cx="10433304" cy="365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60" b="0">
                <a:solidFill>
                  <a:srgbClr val="5C6876"/>
                </a:solidFill>
                <a:latin typeface="微软雅黑" panose="020B0503020204020204" charset="-122"/>
              </a:rPr>
              <a:t>每个工具都声明 schema、权限范围、幂等键、超时、重试策略、审计字段和敏感字段脱敏规则。</a:t>
            </a:r>
            <a:endParaRPr sz="86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2920" y="6565392"/>
            <a:ext cx="5486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848F9C"/>
                </a:solidFill>
                <a:latin typeface="微软雅黑" panose="020B0503020204020204" charset="-122"/>
              </a:rPr>
              <a:t>Codex 企业级 Agent 平台技术说明</a:t>
            </a:r>
            <a:endParaRPr sz="75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1201400" y="654710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848F9C"/>
                </a:solidFill>
                <a:latin typeface="微软雅黑" panose="020B0503020204020204" charset="-122"/>
              </a:rPr>
              <a:t>12</a:t>
            </a:r>
            <a:endParaRPr sz="80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D9992"/>
                </a:solidFill>
                <a:latin typeface="微软雅黑" panose="020B0503020204020204" charset="-122"/>
              </a:rPr>
              <a:t>12 / 性能</a:t>
            </a:r>
            <a:endParaRPr sz="950" b="1">
              <a:solidFill>
                <a:srgbClr val="1D9992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1">
                <a:solidFill>
                  <a:srgbClr val="141C26"/>
                </a:solidFill>
                <a:latin typeface="微软雅黑" panose="020B0503020204020204" charset="-122"/>
              </a:rPr>
              <a:t>性能优化：衡量端到端吞吐，而不是只看模型延迟</a:t>
            </a:r>
            <a:endParaRPr sz="25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7" y="969264"/>
            <a:ext cx="104241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5C6876"/>
                </a:solidFill>
                <a:latin typeface="微软雅黑" panose="020B0503020204020204" charset="-122"/>
              </a:rPr>
              <a:t>企业场景中，慢点通常来自上下文过大、工具等待、串行审批和环境准备，而不只是模型响应。</a:t>
            </a:r>
            <a:endParaRPr sz="10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1508760" cy="621792"/>
          </a:xfrm>
          <a:prstGeom prst="rect">
            <a:avLst/>
          </a:prstGeom>
          <a:solidFill>
            <a:srgbClr val="E4863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737360"/>
            <a:ext cx="1362456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20" b="1">
                <a:solidFill>
                  <a:srgbClr val="FFFFFF"/>
                </a:solidFill>
                <a:latin typeface="微软雅黑" panose="020B0503020204020204" charset="-122"/>
              </a:rPr>
              <a:t>优化方向</a:t>
            </a:r>
            <a:endParaRPr sz="9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11680" y="1600200"/>
            <a:ext cx="2971800" cy="621792"/>
          </a:xfrm>
          <a:prstGeom prst="rect">
            <a:avLst/>
          </a:prstGeom>
          <a:solidFill>
            <a:srgbClr val="E4863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84832" y="1737360"/>
            <a:ext cx="2825496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20" b="1">
                <a:solidFill>
                  <a:srgbClr val="FFFFFF"/>
                </a:solidFill>
                <a:latin typeface="微软雅黑" panose="020B0503020204020204" charset="-122"/>
              </a:rPr>
              <a:t>做法</a:t>
            </a:r>
            <a:endParaRPr sz="9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83480" y="1600200"/>
            <a:ext cx="2743200" cy="621792"/>
          </a:xfrm>
          <a:prstGeom prst="rect">
            <a:avLst/>
          </a:prstGeom>
          <a:solidFill>
            <a:srgbClr val="E4863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56632" y="1737360"/>
            <a:ext cx="2596896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20" b="1">
                <a:solidFill>
                  <a:srgbClr val="FFFFFF"/>
                </a:solidFill>
                <a:latin typeface="微软雅黑" panose="020B0503020204020204" charset="-122"/>
              </a:rPr>
              <a:t>收益</a:t>
            </a:r>
            <a:endParaRPr sz="9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726679" y="1600200"/>
            <a:ext cx="2834640" cy="621792"/>
          </a:xfrm>
          <a:prstGeom prst="rect">
            <a:avLst/>
          </a:prstGeom>
          <a:solidFill>
            <a:srgbClr val="E4863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9831" y="1737360"/>
            <a:ext cx="2688336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20" b="1">
                <a:solidFill>
                  <a:srgbClr val="FFFFFF"/>
                </a:solidFill>
                <a:latin typeface="微软雅黑" panose="020B0503020204020204" charset="-122"/>
              </a:rPr>
              <a:t>注意事项</a:t>
            </a:r>
            <a:endParaRPr sz="9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2920" y="2221992"/>
            <a:ext cx="1508760" cy="621792"/>
          </a:xfrm>
          <a:prstGeom prst="rect">
            <a:avLst/>
          </a:prstGeom>
          <a:solidFill>
            <a:srgbClr val="EFF2F6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2295144"/>
            <a:ext cx="1362456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141C26"/>
                </a:solidFill>
                <a:latin typeface="微软雅黑" panose="020B0503020204020204" charset="-122"/>
              </a:rPr>
              <a:t>模型路由</a:t>
            </a:r>
            <a:endParaRPr sz="83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011680" y="2221992"/>
            <a:ext cx="2971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84832" y="2295144"/>
            <a:ext cx="2825496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按任务风险和复杂度选择模型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983480" y="2221992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56632" y="2295144"/>
            <a:ext cx="2596896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降低成本和平均时延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726679" y="2221992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99831" y="2295144"/>
            <a:ext cx="2688336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保留高风险任务的强模型路径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2920" y="2843784"/>
            <a:ext cx="1508760" cy="621792"/>
          </a:xfrm>
          <a:prstGeom prst="rect">
            <a:avLst/>
          </a:prstGeom>
          <a:solidFill>
            <a:srgbClr val="EFF2F6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" y="2916936"/>
            <a:ext cx="1362456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141C26"/>
                </a:solidFill>
                <a:latin typeface="微软雅黑" panose="020B0503020204020204" charset="-122"/>
              </a:rPr>
              <a:t>上下文控制</a:t>
            </a:r>
            <a:endParaRPr sz="83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011680" y="2843784"/>
            <a:ext cx="2971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84832" y="2916936"/>
            <a:ext cx="2825496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只注入相关文件、摘要和检索片段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983480" y="2843784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56632" y="2916936"/>
            <a:ext cx="2596896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减少 token 和幻觉概率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726679" y="2843784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99831" y="2916936"/>
            <a:ext cx="2688336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摘要需可追溯到原文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02920" y="3465576"/>
            <a:ext cx="1508760" cy="621792"/>
          </a:xfrm>
          <a:prstGeom prst="rect">
            <a:avLst/>
          </a:prstGeom>
          <a:solidFill>
            <a:srgbClr val="EFF2F6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" y="3538728"/>
            <a:ext cx="1362456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141C26"/>
                </a:solidFill>
                <a:latin typeface="微软雅黑" panose="020B0503020204020204" charset="-122"/>
              </a:rPr>
              <a:t>并行执行</a:t>
            </a:r>
            <a:endParaRPr sz="83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011680" y="3465576"/>
            <a:ext cx="2971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84832" y="3538728"/>
            <a:ext cx="2825496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多仓库检索、测试、静态扫描并发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983480" y="3465576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56632" y="3538728"/>
            <a:ext cx="2596896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提升任务完成吞吐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726679" y="3465576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99831" y="3538728"/>
            <a:ext cx="2688336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共享资源要限流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02920" y="4087368"/>
            <a:ext cx="1508760" cy="621792"/>
          </a:xfrm>
          <a:prstGeom prst="rect">
            <a:avLst/>
          </a:prstGeom>
          <a:solidFill>
            <a:srgbClr val="EFF2F6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" y="4160520"/>
            <a:ext cx="1362456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141C26"/>
                </a:solidFill>
                <a:latin typeface="微软雅黑" panose="020B0503020204020204" charset="-122"/>
              </a:rPr>
              <a:t>缓存复用</a:t>
            </a:r>
            <a:endParaRPr sz="83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011680" y="4087368"/>
            <a:ext cx="2971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84832" y="4160520"/>
            <a:ext cx="2825496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依赖安装、代码索引、文档检索缓存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983480" y="4087368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56632" y="4160520"/>
            <a:ext cx="2596896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减少重复等待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726679" y="4087368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99831" y="4160520"/>
            <a:ext cx="2688336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缓存按租户和权限隔离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02920" y="4709160"/>
            <a:ext cx="1508760" cy="621792"/>
          </a:xfrm>
          <a:prstGeom prst="rect">
            <a:avLst/>
          </a:prstGeom>
          <a:solidFill>
            <a:srgbClr val="EFF2F6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" y="4782312"/>
            <a:ext cx="1362456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141C26"/>
                </a:solidFill>
                <a:latin typeface="微软雅黑" panose="020B0503020204020204" charset="-122"/>
              </a:rPr>
              <a:t>环境预热</a:t>
            </a:r>
            <a:endParaRPr sz="83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011680" y="4709160"/>
            <a:ext cx="2971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84832" y="4782312"/>
            <a:ext cx="2825496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Worker 池预拉仓库与基础镜像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983480" y="4709160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56632" y="4782312"/>
            <a:ext cx="2596896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缩短冷启动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726679" y="4709160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99831" y="4782312"/>
            <a:ext cx="2688336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避免预热环境携带敏感状态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02920" y="5330952"/>
            <a:ext cx="1508760" cy="621792"/>
          </a:xfrm>
          <a:prstGeom prst="rect">
            <a:avLst/>
          </a:prstGeom>
          <a:solidFill>
            <a:srgbClr val="EFF2F6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6072" y="5404104"/>
            <a:ext cx="1362456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141C26"/>
                </a:solidFill>
                <a:latin typeface="微软雅黑" panose="020B0503020204020204" charset="-122"/>
              </a:rPr>
              <a:t>评估基线</a:t>
            </a:r>
            <a:endParaRPr sz="83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2011680" y="5330952"/>
            <a:ext cx="2971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84832" y="5404104"/>
            <a:ext cx="2825496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建立任务集、SLA、成功率和人工接管率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983480" y="5330952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56632" y="5404104"/>
            <a:ext cx="2596896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能持续优化模型与流程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7726679" y="5330952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99831" y="5404104"/>
            <a:ext cx="2688336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0">
                <a:solidFill>
                  <a:srgbClr val="5C6876"/>
                </a:solidFill>
                <a:latin typeface="微软雅黑" panose="020B0503020204020204" charset="-122"/>
              </a:rPr>
              <a:t>不要只用单轮问答 benchmark</a:t>
            </a:r>
            <a:endParaRPr sz="83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914400" y="6053328"/>
            <a:ext cx="10241280" cy="256032"/>
          </a:xfrm>
          <a:prstGeom prst="roundRect">
            <a:avLst/>
          </a:prstGeom>
          <a:solidFill>
            <a:srgbClr val="FC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7552" y="6094476"/>
            <a:ext cx="10094976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80" b="1">
                <a:solidFill>
                  <a:srgbClr val="E4863A"/>
                </a:solidFill>
                <a:latin typeface="微软雅黑" panose="020B0503020204020204" charset="-122"/>
              </a:rPr>
              <a:t>Codex 优势：在代码任务中更容易形成“计划 -&gt; 编辑 -&gt; 测试 -&gt; 复核”的闭环指标，而不只评估文本回答。</a:t>
            </a:r>
            <a:endParaRPr sz="780" b="1">
              <a:solidFill>
                <a:srgbClr val="E4863A"/>
              </a:solidFill>
              <a:latin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02920" y="6565392"/>
            <a:ext cx="5486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848F9C"/>
                </a:solidFill>
                <a:latin typeface="微软雅黑" panose="020B0503020204020204" charset="-122"/>
              </a:rPr>
              <a:t>Codex 企业级 Agent 平台技术说明</a:t>
            </a:r>
            <a:endParaRPr sz="75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1201400" y="654710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848F9C"/>
                </a:solidFill>
                <a:latin typeface="微软雅黑" panose="020B0503020204020204" charset="-122"/>
              </a:rPr>
              <a:t>13</a:t>
            </a:r>
            <a:endParaRPr sz="80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D9992"/>
                </a:solidFill>
                <a:latin typeface="微软雅黑" panose="020B0503020204020204" charset="-122"/>
              </a:rPr>
              <a:t>13 / 安全</a:t>
            </a:r>
            <a:endParaRPr sz="950" b="1">
              <a:solidFill>
                <a:srgbClr val="1D9992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1">
                <a:solidFill>
                  <a:srgbClr val="141C26"/>
                </a:solidFill>
                <a:latin typeface="微软雅黑" panose="020B0503020204020204" charset="-122"/>
              </a:rPr>
              <a:t>安全与合规：把 Agent 当成受控执行主体</a:t>
            </a:r>
            <a:endParaRPr sz="25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7" y="969264"/>
            <a:ext cx="104241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5C6876"/>
                </a:solidFill>
                <a:latin typeface="微软雅黑" panose="020B0503020204020204" charset="-122"/>
              </a:rPr>
              <a:t>安全优势来自平台设计：最小权限、隔离执行、可审计、可审批、可回滚。</a:t>
            </a:r>
            <a:endParaRPr sz="10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ccent"/>
          <p:cNvSpPr/>
          <p:nvPr/>
        </p:nvSpPr>
        <p:spPr>
          <a:xfrm>
            <a:off x="594360" y="1691640"/>
            <a:ext cx="73152" cy="1325880"/>
          </a:xfrm>
          <a:prstGeom prst="rect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819656"/>
            <a:ext cx="32095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41C26"/>
                </a:solidFill>
                <a:latin typeface="微软雅黑" panose="020B0503020204020204" charset="-122"/>
              </a:rPr>
              <a:t>身份</a:t>
            </a:r>
            <a:endParaRPr sz="13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8952" y="2176272"/>
            <a:ext cx="3209544" cy="7589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>
                <a:solidFill>
                  <a:srgbClr val="5C6876"/>
                </a:solidFill>
                <a:latin typeface="微软雅黑" panose="020B0503020204020204" charset="-122"/>
              </a:rPr>
              <a:t>SSO、MFA、租户 / 项目 / 角色映射</a:t>
            </a:r>
            <a:endParaRPr sz="9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ccent"/>
          <p:cNvSpPr/>
          <p:nvPr/>
        </p:nvSpPr>
        <p:spPr>
          <a:xfrm>
            <a:off x="4343400" y="1691640"/>
            <a:ext cx="73152" cy="1325880"/>
          </a:xfrm>
          <a:prstGeom prst="rect">
            <a:avLst/>
          </a:prstGeom>
          <a:solidFill>
            <a:srgbClr val="765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819656"/>
            <a:ext cx="32095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41C26"/>
                </a:solidFill>
                <a:latin typeface="微软雅黑" panose="020B0503020204020204" charset="-122"/>
              </a:rPr>
              <a:t>权限</a:t>
            </a:r>
            <a:endParaRPr sz="13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07992" y="2176272"/>
            <a:ext cx="3209544" cy="7589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>
                <a:solidFill>
                  <a:srgbClr val="5C6876"/>
                </a:solidFill>
                <a:latin typeface="微软雅黑" panose="020B0503020204020204" charset="-122"/>
              </a:rPr>
              <a:t>工具白名单、ABAC、风险分级、审批策略</a:t>
            </a:r>
            <a:endParaRPr sz="9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ccent"/>
          <p:cNvSpPr/>
          <p:nvPr/>
        </p:nvSpPr>
        <p:spPr>
          <a:xfrm>
            <a:off x="8092440" y="1691640"/>
            <a:ext cx="73152" cy="1325880"/>
          </a:xfrm>
          <a:prstGeom prst="rect">
            <a:avLst/>
          </a:prstGeom>
          <a:solidFill>
            <a:srgbClr val="E4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1819656"/>
            <a:ext cx="32095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41C26"/>
                </a:solidFill>
                <a:latin typeface="微软雅黑" panose="020B0503020204020204" charset="-122"/>
              </a:rPr>
              <a:t>数据</a:t>
            </a:r>
            <a:endParaRPr sz="13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57031" y="2176272"/>
            <a:ext cx="3209544" cy="7589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>
                <a:solidFill>
                  <a:srgbClr val="5C6876"/>
                </a:solidFill>
                <a:latin typeface="微软雅黑" panose="020B0503020204020204" charset="-122"/>
              </a:rPr>
              <a:t>脱敏、DLP、上下文最小化、密钥托管</a:t>
            </a:r>
            <a:endParaRPr sz="9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94360" y="352044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ccent"/>
          <p:cNvSpPr/>
          <p:nvPr/>
        </p:nvSpPr>
        <p:spPr>
          <a:xfrm>
            <a:off x="594360" y="3520440"/>
            <a:ext cx="73152" cy="1325880"/>
          </a:xfrm>
          <a:prstGeom prst="rect">
            <a:avLst/>
          </a:prstGeom>
          <a:solidFill>
            <a:srgbClr val="3F9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3648456"/>
            <a:ext cx="32095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41C26"/>
                </a:solidFill>
                <a:latin typeface="微软雅黑" panose="020B0503020204020204" charset="-122"/>
              </a:rPr>
              <a:t>执行</a:t>
            </a:r>
            <a:endParaRPr sz="13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8952" y="4005072"/>
            <a:ext cx="3209544" cy="7589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>
                <a:solidFill>
                  <a:srgbClr val="5C6876"/>
                </a:solidFill>
                <a:latin typeface="微软雅黑" panose="020B0503020204020204" charset="-122"/>
              </a:rPr>
              <a:t>沙箱、网络策略、文件边界、危险动作阻断</a:t>
            </a:r>
            <a:endParaRPr sz="9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343400" y="352044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ccent"/>
          <p:cNvSpPr/>
          <p:nvPr/>
        </p:nvSpPr>
        <p:spPr>
          <a:xfrm>
            <a:off x="4343400" y="3520440"/>
            <a:ext cx="73152" cy="1325880"/>
          </a:xfrm>
          <a:prstGeom prst="rect">
            <a:avLst/>
          </a:prstGeom>
          <a:solidFill>
            <a:srgbClr val="41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7992" y="3648456"/>
            <a:ext cx="32095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41C26"/>
                </a:solidFill>
                <a:latin typeface="微软雅黑" panose="020B0503020204020204" charset="-122"/>
              </a:rPr>
              <a:t>审计</a:t>
            </a:r>
            <a:endParaRPr sz="13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07992" y="4005072"/>
            <a:ext cx="3209544" cy="7589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>
                <a:solidFill>
                  <a:srgbClr val="5C6876"/>
                </a:solidFill>
                <a:latin typeface="微软雅黑" panose="020B0503020204020204" charset="-122"/>
              </a:rPr>
              <a:t>trace、审批记录、工具参数、输出归档</a:t>
            </a:r>
            <a:endParaRPr sz="9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092440" y="352044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ccent"/>
          <p:cNvSpPr/>
          <p:nvPr/>
        </p:nvSpPr>
        <p:spPr>
          <a:xfrm>
            <a:off x="8092440" y="3520440"/>
            <a:ext cx="73152" cy="1325880"/>
          </a:xfrm>
          <a:prstGeom prst="rect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7031" y="3648456"/>
            <a:ext cx="32095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41C26"/>
                </a:solidFill>
                <a:latin typeface="微软雅黑" panose="020B0503020204020204" charset="-122"/>
              </a:rPr>
              <a:t>恢复</a:t>
            </a:r>
            <a:endParaRPr sz="13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57031" y="4005072"/>
            <a:ext cx="3209544" cy="7589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>
                <a:solidFill>
                  <a:srgbClr val="5C6876"/>
                </a:solidFill>
                <a:latin typeface="微软雅黑" panose="020B0503020204020204" charset="-122"/>
              </a:rPr>
              <a:t>diff 回滚、幂等键、灾备、异常接管</a:t>
            </a:r>
            <a:endParaRPr sz="9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13232" y="5440680"/>
            <a:ext cx="219456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41C26"/>
                </a:solidFill>
                <a:latin typeface="微软雅黑" panose="020B0503020204020204" charset="-122"/>
              </a:rPr>
              <a:t>安全比较要点</a:t>
            </a:r>
            <a:endParaRPr sz="13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731520" y="5788152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5715000"/>
            <a:ext cx="1045159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141C26"/>
                </a:solidFill>
                <a:latin typeface="微软雅黑" panose="020B0503020204020204" charset="-122"/>
              </a:rPr>
              <a:t>相对 OpenClaw：Codex 方案可更快叠加成熟工程工作流；但若要求完全私有化，OpenClaw 的自控性有优势。</a:t>
            </a:r>
            <a:endParaRPr sz="95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731520" y="6272784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" y="6199632"/>
            <a:ext cx="1045159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141C26"/>
                </a:solidFill>
                <a:latin typeface="微软雅黑" panose="020B0503020204020204" charset="-122"/>
              </a:rPr>
              <a:t>相对 Claude：Codex 更容易围绕代码变更、测试、审查、审批形成执行边界；Claude 仍可作为特定模型能力接入。</a:t>
            </a:r>
            <a:endParaRPr sz="95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2920" y="6565392"/>
            <a:ext cx="5486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848F9C"/>
                </a:solidFill>
                <a:latin typeface="微软雅黑" panose="020B0503020204020204" charset="-122"/>
              </a:rPr>
              <a:t>Codex 企业级 Agent 平台技术说明</a:t>
            </a:r>
            <a:endParaRPr sz="75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201400" y="654710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848F9C"/>
                </a:solidFill>
                <a:latin typeface="微软雅黑" panose="020B0503020204020204" charset="-122"/>
              </a:rPr>
              <a:t>14</a:t>
            </a:r>
            <a:endParaRPr sz="80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D9992"/>
                </a:solidFill>
                <a:latin typeface="微软雅黑" panose="020B0503020204020204" charset="-122"/>
              </a:rPr>
              <a:t>14 / 入口开发</a:t>
            </a:r>
            <a:endParaRPr sz="950" b="1">
              <a:solidFill>
                <a:srgbClr val="1D9992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1">
                <a:solidFill>
                  <a:srgbClr val="141C26"/>
                </a:solidFill>
                <a:latin typeface="微软雅黑" panose="020B0503020204020204" charset="-122"/>
              </a:rPr>
              <a:t>企业入口开发：把 Agent 变成业务系统能力</a:t>
            </a:r>
            <a:endParaRPr sz="25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7" y="969264"/>
            <a:ext cx="104241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5C6876"/>
                </a:solidFill>
                <a:latin typeface="微软雅黑" panose="020B0503020204020204" charset="-122"/>
              </a:rPr>
              <a:t>入口不是 UI 皮肤，而是带身份、权限、上下文和事件流的统一调用协议。</a:t>
            </a:r>
            <a:endParaRPr sz="10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2606040" cy="114300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ccent"/>
          <p:cNvSpPr/>
          <p:nvPr/>
        </p:nvSpPr>
        <p:spPr>
          <a:xfrm>
            <a:off x="640080" y="1600200"/>
            <a:ext cx="73152" cy="1143000"/>
          </a:xfrm>
          <a:prstGeom prst="rect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728216"/>
            <a:ext cx="22951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80" b="1">
                <a:solidFill>
                  <a:srgbClr val="141C26"/>
                </a:solidFill>
                <a:latin typeface="微软雅黑" panose="020B0503020204020204" charset="-122"/>
              </a:rPr>
              <a:t>Web Portal</a:t>
            </a:r>
            <a:endParaRPr sz="128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4671" y="2084832"/>
            <a:ext cx="2295144" cy="5760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C6876"/>
                </a:solidFill>
                <a:latin typeface="微软雅黑" panose="020B0503020204020204" charset="-122"/>
              </a:rPr>
              <a:t>任务创建、审批、进度、结果、审计查询。</a:t>
            </a:r>
            <a:endParaRPr sz="90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520440" y="1600200"/>
            <a:ext cx="2606040" cy="1143000"/>
          </a:xfrm>
          <a:prstGeom prst="roundRect">
            <a:avLst/>
          </a:prstGeom>
          <a:solidFill>
            <a:srgbClr val="F2ECFA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ccent"/>
          <p:cNvSpPr/>
          <p:nvPr/>
        </p:nvSpPr>
        <p:spPr>
          <a:xfrm>
            <a:off x="3520440" y="1600200"/>
            <a:ext cx="73152" cy="1143000"/>
          </a:xfrm>
          <a:prstGeom prst="rect">
            <a:avLst/>
          </a:prstGeom>
          <a:solidFill>
            <a:srgbClr val="765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1728216"/>
            <a:ext cx="22951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80" b="1">
                <a:solidFill>
                  <a:srgbClr val="141C26"/>
                </a:solidFill>
                <a:latin typeface="微软雅黑" panose="020B0503020204020204" charset="-122"/>
              </a:rPr>
              <a:t>IDE / CLI</a:t>
            </a:r>
            <a:endParaRPr sz="128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85032" y="2084832"/>
            <a:ext cx="2295144" cy="5760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C6876"/>
                </a:solidFill>
                <a:latin typeface="微软雅黑" panose="020B0503020204020204" charset="-122"/>
              </a:rPr>
              <a:t>代码库内发起修复、解释、测试和审查任务。</a:t>
            </a:r>
            <a:endParaRPr sz="90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0" y="1600200"/>
            <a:ext cx="2606040" cy="1143000"/>
          </a:xfrm>
          <a:prstGeom prst="roundRect">
            <a:avLst/>
          </a:prstGeom>
          <a:solidFill>
            <a:srgbClr val="FCEFE2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ccent"/>
          <p:cNvSpPr/>
          <p:nvPr/>
        </p:nvSpPr>
        <p:spPr>
          <a:xfrm>
            <a:off x="6400800" y="1600200"/>
            <a:ext cx="73152" cy="1143000"/>
          </a:xfrm>
          <a:prstGeom prst="rect">
            <a:avLst/>
          </a:prstGeom>
          <a:solidFill>
            <a:srgbClr val="E4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1728216"/>
            <a:ext cx="22951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80" b="1">
                <a:solidFill>
                  <a:srgbClr val="141C26"/>
                </a:solidFill>
                <a:latin typeface="微软雅黑" panose="020B0503020204020204" charset="-122"/>
              </a:rPr>
              <a:t>ChatOps</a:t>
            </a:r>
            <a:endParaRPr sz="128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65392" y="2084832"/>
            <a:ext cx="2295144" cy="5760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C6876"/>
                </a:solidFill>
                <a:latin typeface="微软雅黑" panose="020B0503020204020204" charset="-122"/>
              </a:rPr>
              <a:t>在飞书/Slack/Teams 中处理轻量任务和审批。</a:t>
            </a:r>
            <a:endParaRPr sz="90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281160" y="1600200"/>
            <a:ext cx="2606040" cy="1143000"/>
          </a:xfrm>
          <a:prstGeom prst="roundRect">
            <a:avLst/>
          </a:prstGeom>
          <a:solidFill>
            <a:srgbClr val="E8F6ED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ccent"/>
          <p:cNvSpPr/>
          <p:nvPr/>
        </p:nvSpPr>
        <p:spPr>
          <a:xfrm>
            <a:off x="9281160" y="1600200"/>
            <a:ext cx="73152" cy="1143000"/>
          </a:xfrm>
          <a:prstGeom prst="rect">
            <a:avLst/>
          </a:prstGeom>
          <a:solidFill>
            <a:srgbClr val="3F9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45752" y="1728216"/>
            <a:ext cx="22951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80" b="1">
                <a:solidFill>
                  <a:srgbClr val="141C26"/>
                </a:solidFill>
                <a:latin typeface="微软雅黑" panose="020B0503020204020204" charset="-122"/>
              </a:rPr>
              <a:t>API / SDK</a:t>
            </a:r>
            <a:endParaRPr sz="128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445752" y="2084832"/>
            <a:ext cx="2295144" cy="5760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C6876"/>
                </a:solidFill>
                <a:latin typeface="微软雅黑" panose="020B0503020204020204" charset="-122"/>
              </a:rPr>
              <a:t>供内部系统、CI/CD、工单系统自动调用。</a:t>
            </a:r>
            <a:endParaRPr sz="90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3337560"/>
            <a:ext cx="23774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41C26"/>
                </a:solidFill>
                <a:latin typeface="微软雅黑" panose="020B0503020204020204" charset="-122"/>
              </a:rPr>
              <a:t>建议 API 契约</a:t>
            </a:r>
            <a:endParaRPr sz="140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77240" y="3822191"/>
            <a:ext cx="10652760" cy="1645920"/>
          </a:xfrm>
          <a:prstGeom prst="roundRect">
            <a:avLst/>
          </a:prstGeom>
          <a:solidFill>
            <a:srgbClr val="1F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041648"/>
            <a:ext cx="1014984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E8EEF4"/>
                </a:solidFill>
                <a:latin typeface="Consolas" panose="020B0609020204030204"/>
              </a:rPr>
              <a:t>POST /agent/tasks        创建任务：目标、项目、上下文引用、风险级别</a:t>
            </a:r>
            <a:endParaRPr sz="880" b="0">
              <a:solidFill>
                <a:srgbClr val="E8EEF4"/>
              </a:solidFill>
              <a:latin typeface="Consolas" panose="020B0609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60120" y="4306824"/>
            <a:ext cx="1014984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E8EEF4"/>
                </a:solidFill>
                <a:latin typeface="Consolas" panose="020B0609020204030204"/>
              </a:rPr>
              <a:t>GET  /agent/tasks/{id}   查询状态：计划、等待审批、运行中、完成</a:t>
            </a:r>
            <a:endParaRPr sz="880" b="0">
              <a:solidFill>
                <a:srgbClr val="E8EEF4"/>
              </a:solidFill>
              <a:latin typeface="Consolas" panose="020B0609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0120" y="4572000"/>
            <a:ext cx="1014984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E8EEF4"/>
                </a:solidFill>
                <a:latin typeface="Consolas" panose="020B0609020204030204"/>
              </a:rPr>
              <a:t>GET  /agent/tasks/{id}/events  订阅事件流：工具调用、日志、进度</a:t>
            </a:r>
            <a:endParaRPr sz="880" b="0">
              <a:solidFill>
                <a:srgbClr val="E8EEF4"/>
              </a:solidFill>
              <a:latin typeface="Consolas" panose="020B0609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60120" y="4837176"/>
            <a:ext cx="1014984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E8EEF4"/>
                </a:solidFill>
                <a:latin typeface="Consolas" panose="020B0609020204030204"/>
              </a:rPr>
              <a:t>PATCH /agent/tasks/{id}/approval  审批计划、危险动作或外部提交</a:t>
            </a:r>
            <a:endParaRPr sz="880" b="0">
              <a:solidFill>
                <a:srgbClr val="E8EEF4"/>
              </a:solidFill>
              <a:latin typeface="Consolas" panose="020B0609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60120" y="5102352"/>
            <a:ext cx="1014984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E8EEF4"/>
                </a:solidFill>
                <a:latin typeface="Consolas" panose="020B0609020204030204"/>
              </a:rPr>
              <a:t>GET  /agent/tasks/{id}/artifacts  下载 diff、报告、日志和证据链</a:t>
            </a:r>
            <a:endParaRPr sz="880" b="0">
              <a:solidFill>
                <a:srgbClr val="E8EEF4"/>
              </a:solidFill>
              <a:latin typeface="Consolas" panose="020B060902020403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14400" y="5989320"/>
            <a:ext cx="10241280" cy="256032"/>
          </a:xfrm>
          <a:prstGeom prst="roundRect">
            <a:avLst/>
          </a:prstGeom>
          <a:solidFill>
            <a:srgbClr val="E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6030468"/>
            <a:ext cx="10094976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80" b="1">
                <a:solidFill>
                  <a:srgbClr val="1D9992"/>
                </a:solidFill>
                <a:latin typeface="微软雅黑" panose="020B0503020204020204" charset="-122"/>
              </a:rPr>
              <a:t>入口开发重点：统一鉴权、统一审计、统一事件流；不要让每个入口各自实现一套 Agent 状态机。</a:t>
            </a:r>
            <a:endParaRPr sz="780" b="1">
              <a:solidFill>
                <a:srgbClr val="1D9992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2920" y="6565392"/>
            <a:ext cx="5486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848F9C"/>
                </a:solidFill>
                <a:latin typeface="微软雅黑" panose="020B0503020204020204" charset="-122"/>
              </a:rPr>
              <a:t>Codex 企业级 Agent 平台技术说明</a:t>
            </a:r>
            <a:endParaRPr sz="75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201400" y="654710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848F9C"/>
                </a:solidFill>
                <a:latin typeface="微软雅黑" panose="020B0503020204020204" charset="-122"/>
              </a:rPr>
              <a:t>15</a:t>
            </a:r>
            <a:endParaRPr sz="80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D9992"/>
                </a:solidFill>
                <a:latin typeface="微软雅黑" panose="020B0503020204020204" charset="-122"/>
              </a:rPr>
              <a:t>15 / 实现模块</a:t>
            </a:r>
            <a:endParaRPr sz="950" b="1">
              <a:solidFill>
                <a:srgbClr val="1D9992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1">
                <a:solidFill>
                  <a:srgbClr val="141C26"/>
                </a:solidFill>
                <a:latin typeface="微软雅黑" panose="020B0503020204020204" charset="-122"/>
              </a:rPr>
              <a:t>参考实现模块</a:t>
            </a:r>
            <a:endParaRPr sz="25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7" y="969264"/>
            <a:ext cx="104241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5C6876"/>
                </a:solidFill>
                <a:latin typeface="微软雅黑" panose="020B0503020204020204" charset="-122"/>
              </a:rPr>
              <a:t>按平台模块拆分后，Codex 只是核心执行能力之一；企业控制能力在外围平台。</a:t>
            </a:r>
            <a:endParaRPr sz="10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260604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ccent"/>
          <p:cNvSpPr/>
          <p:nvPr/>
        </p:nvSpPr>
        <p:spPr>
          <a:xfrm>
            <a:off x="594360" y="1627632"/>
            <a:ext cx="73152" cy="1353312"/>
          </a:xfrm>
          <a:prstGeom prst="rect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55648"/>
            <a:ext cx="22951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40" b="1">
                <a:solidFill>
                  <a:srgbClr val="141C26"/>
                </a:solidFill>
                <a:latin typeface="微软雅黑" panose="020B0503020204020204" charset="-122"/>
              </a:rPr>
              <a:t>Agent Gateway</a:t>
            </a:r>
            <a:endParaRPr sz="114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8952" y="2112264"/>
            <a:ext cx="2295144" cy="7863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5C6876"/>
                </a:solidFill>
                <a:latin typeface="微软雅黑" panose="020B0503020204020204" charset="-122"/>
              </a:rPr>
              <a:t>认证、入口路由、租户识别、请求规范化</a:t>
            </a:r>
            <a:endParaRPr sz="85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474720" y="1627632"/>
            <a:ext cx="260604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ccent"/>
          <p:cNvSpPr/>
          <p:nvPr/>
        </p:nvSpPr>
        <p:spPr>
          <a:xfrm>
            <a:off x="3474720" y="1627632"/>
            <a:ext cx="73152" cy="1353312"/>
          </a:xfrm>
          <a:prstGeom prst="rect">
            <a:avLst/>
          </a:prstGeom>
          <a:solidFill>
            <a:srgbClr val="E4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755648"/>
            <a:ext cx="22951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40" b="1">
                <a:solidFill>
                  <a:srgbClr val="141C26"/>
                </a:solidFill>
                <a:latin typeface="微软雅黑" panose="020B0503020204020204" charset="-122"/>
              </a:rPr>
              <a:t>Task Orchestrator</a:t>
            </a:r>
            <a:endParaRPr sz="114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39312" y="2112264"/>
            <a:ext cx="2295144" cy="7863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5C6876"/>
                </a:solidFill>
                <a:latin typeface="微软雅黑" panose="020B0503020204020204" charset="-122"/>
              </a:rPr>
              <a:t>状态机、队列、审批、取消、重试、SLA</a:t>
            </a:r>
            <a:endParaRPr sz="85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355080" y="1627632"/>
            <a:ext cx="260604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ccent"/>
          <p:cNvSpPr/>
          <p:nvPr/>
        </p:nvSpPr>
        <p:spPr>
          <a:xfrm>
            <a:off x="6355080" y="1627632"/>
            <a:ext cx="73152" cy="1353312"/>
          </a:xfrm>
          <a:prstGeom prst="rect">
            <a:avLst/>
          </a:prstGeom>
          <a:solidFill>
            <a:srgbClr val="765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1755648"/>
            <a:ext cx="22951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40" b="1">
                <a:solidFill>
                  <a:srgbClr val="141C26"/>
                </a:solidFill>
                <a:latin typeface="微软雅黑" panose="020B0503020204020204" charset="-122"/>
              </a:rPr>
              <a:t>Session Store</a:t>
            </a:r>
            <a:endParaRPr sz="114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19672" y="2112264"/>
            <a:ext cx="2295144" cy="7863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5C6876"/>
                </a:solidFill>
                <a:latin typeface="微软雅黑" panose="020B0503020204020204" charset="-122"/>
              </a:rPr>
              <a:t>多轮上下文、摘要、checkpoint、产物引用</a:t>
            </a:r>
            <a:endParaRPr sz="85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235440" y="1627632"/>
            <a:ext cx="260604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ccent"/>
          <p:cNvSpPr/>
          <p:nvPr/>
        </p:nvSpPr>
        <p:spPr>
          <a:xfrm>
            <a:off x="9235440" y="1627632"/>
            <a:ext cx="73152" cy="1353312"/>
          </a:xfrm>
          <a:prstGeom prst="rect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0032" y="1755648"/>
            <a:ext cx="22951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40" b="1">
                <a:solidFill>
                  <a:srgbClr val="141C26"/>
                </a:solidFill>
                <a:latin typeface="微软雅黑" panose="020B0503020204020204" charset="-122"/>
              </a:rPr>
              <a:t>Policy Engine</a:t>
            </a:r>
            <a:endParaRPr sz="114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400032" y="2112264"/>
            <a:ext cx="2295144" cy="7863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5C6876"/>
                </a:solidFill>
                <a:latin typeface="微软雅黑" panose="020B0503020204020204" charset="-122"/>
              </a:rPr>
              <a:t>RBAC/ABAC、工具白名单、风险分级、审批规则</a:t>
            </a:r>
            <a:endParaRPr sz="85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94360" y="3621024"/>
            <a:ext cx="260604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ccent"/>
          <p:cNvSpPr/>
          <p:nvPr/>
        </p:nvSpPr>
        <p:spPr>
          <a:xfrm>
            <a:off x="594360" y="3621024"/>
            <a:ext cx="73152" cy="1353312"/>
          </a:xfrm>
          <a:prstGeom prst="rect">
            <a:avLst/>
          </a:prstGeom>
          <a:solidFill>
            <a:srgbClr val="3F9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3749039"/>
            <a:ext cx="22951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40" b="1">
                <a:solidFill>
                  <a:srgbClr val="141C26"/>
                </a:solidFill>
                <a:latin typeface="微软雅黑" panose="020B0503020204020204" charset="-122"/>
              </a:rPr>
              <a:t>Worker Runtime</a:t>
            </a:r>
            <a:endParaRPr sz="114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58952" y="4105656"/>
            <a:ext cx="2295144" cy="7863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5C6876"/>
                </a:solidFill>
                <a:latin typeface="微软雅黑" panose="020B0503020204020204" charset="-122"/>
              </a:rPr>
              <a:t>Codex 执行、沙箱、模型路由、资源预算</a:t>
            </a:r>
            <a:endParaRPr sz="85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474720" y="3621024"/>
            <a:ext cx="260604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ccent"/>
          <p:cNvSpPr/>
          <p:nvPr/>
        </p:nvSpPr>
        <p:spPr>
          <a:xfrm>
            <a:off x="3474720" y="3621024"/>
            <a:ext cx="73152" cy="1353312"/>
          </a:xfrm>
          <a:prstGeom prst="rect">
            <a:avLst/>
          </a:prstGeom>
          <a:solidFill>
            <a:srgbClr val="41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9312" y="3749039"/>
            <a:ext cx="22951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40" b="1">
                <a:solidFill>
                  <a:srgbClr val="141C26"/>
                </a:solidFill>
                <a:latin typeface="微软雅黑" panose="020B0503020204020204" charset="-122"/>
              </a:rPr>
              <a:t>Tool Registry</a:t>
            </a:r>
            <a:endParaRPr sz="114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639312" y="4105656"/>
            <a:ext cx="2295144" cy="7863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5C6876"/>
                </a:solidFill>
                <a:latin typeface="微软雅黑" panose="020B0503020204020204" charset="-122"/>
              </a:rPr>
              <a:t>MCP/API schema、权限、超时、幂等、审计</a:t>
            </a:r>
            <a:endParaRPr sz="85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355080" y="3621024"/>
            <a:ext cx="260604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ccent"/>
          <p:cNvSpPr/>
          <p:nvPr/>
        </p:nvSpPr>
        <p:spPr>
          <a:xfrm>
            <a:off x="6355080" y="3621024"/>
            <a:ext cx="73152" cy="1353312"/>
          </a:xfrm>
          <a:prstGeom prst="rect">
            <a:avLst/>
          </a:prstGeom>
          <a:solidFill>
            <a:srgbClr val="84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9672" y="3749039"/>
            <a:ext cx="22951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40" b="1">
                <a:solidFill>
                  <a:srgbClr val="141C26"/>
                </a:solidFill>
                <a:latin typeface="微软雅黑" panose="020B0503020204020204" charset="-122"/>
              </a:rPr>
              <a:t>Connector Hub</a:t>
            </a:r>
            <a:endParaRPr sz="114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19672" y="4105656"/>
            <a:ext cx="2295144" cy="7863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5C6876"/>
                </a:solidFill>
                <a:latin typeface="微软雅黑" panose="020B0503020204020204" charset="-122"/>
              </a:rPr>
              <a:t>Git、CI、工单、知识库、数据库、业务系统</a:t>
            </a:r>
            <a:endParaRPr sz="85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235440" y="3621024"/>
            <a:ext cx="260604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ccent"/>
          <p:cNvSpPr/>
          <p:nvPr/>
        </p:nvSpPr>
        <p:spPr>
          <a:xfrm>
            <a:off x="9235440" y="3621024"/>
            <a:ext cx="73152" cy="1353312"/>
          </a:xfrm>
          <a:prstGeom prst="rect">
            <a:avLst/>
          </a:prstGeom>
          <a:solidFill>
            <a:srgbClr val="E4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00032" y="3749039"/>
            <a:ext cx="229514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40" b="1">
                <a:solidFill>
                  <a:srgbClr val="141C26"/>
                </a:solidFill>
                <a:latin typeface="微软雅黑" panose="020B0503020204020204" charset="-122"/>
              </a:rPr>
              <a:t>Observability</a:t>
            </a:r>
            <a:endParaRPr sz="114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400032" y="4105656"/>
            <a:ext cx="2295144" cy="7863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5C6876"/>
                </a:solidFill>
                <a:latin typeface="微软雅黑" panose="020B0503020204020204" charset="-122"/>
              </a:rPr>
              <a:t>trace、日志、指标、成本、安全事件、评估集</a:t>
            </a:r>
            <a:endParaRPr sz="85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85800" y="5596128"/>
            <a:ext cx="1645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41C26"/>
                </a:solidFill>
                <a:latin typeface="微软雅黑" panose="020B0503020204020204" charset="-122"/>
              </a:rPr>
              <a:t>推荐技术栈</a:t>
            </a:r>
            <a:endParaRPr sz="130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2057400" y="5623560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12848" y="5550408"/>
            <a:ext cx="972007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20" b="0">
                <a:solidFill>
                  <a:srgbClr val="141C26"/>
                </a:solidFill>
                <a:latin typeface="微软雅黑" panose="020B0503020204020204" charset="-122"/>
              </a:rPr>
              <a:t>后端：Python/Go/Java + 队列系统 + PostgreSQL/Redis + 对象存储。</a:t>
            </a:r>
            <a:endParaRPr sz="92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2057400" y="6108192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12848" y="6035040"/>
            <a:ext cx="972007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20" b="0">
                <a:solidFill>
                  <a:srgbClr val="141C26"/>
                </a:solidFill>
                <a:latin typeface="微软雅黑" panose="020B0503020204020204" charset="-122"/>
              </a:rPr>
              <a:t>运行态：容器/VM 沙箱、独立工作区、模型网关、MCP 工具服务。</a:t>
            </a:r>
            <a:endParaRPr sz="92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2057400" y="6592824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12848" y="6519672"/>
            <a:ext cx="972007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20" b="0">
                <a:solidFill>
                  <a:srgbClr val="141C26"/>
                </a:solidFill>
                <a:latin typeface="微软雅黑" panose="020B0503020204020204" charset="-122"/>
              </a:rPr>
              <a:t>观测：OpenTelemetry trace、审计日志、成本指标、离线评估集。</a:t>
            </a:r>
            <a:endParaRPr sz="92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02920" y="6565392"/>
            <a:ext cx="5486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848F9C"/>
                </a:solidFill>
                <a:latin typeface="微软雅黑" panose="020B0503020204020204" charset="-122"/>
              </a:rPr>
              <a:t>Codex 企业级 Agent 平台技术说明</a:t>
            </a:r>
            <a:endParaRPr sz="75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1201400" y="654710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848F9C"/>
                </a:solidFill>
                <a:latin typeface="微软雅黑" panose="020B0503020204020204" charset="-122"/>
              </a:rPr>
              <a:t>16</a:t>
            </a:r>
            <a:endParaRPr sz="80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D9992"/>
                </a:solidFill>
                <a:latin typeface="微软雅黑" panose="020B0503020204020204" charset="-122"/>
              </a:rPr>
              <a:t>16 / 实施路线</a:t>
            </a:r>
            <a:endParaRPr sz="950" b="1">
              <a:solidFill>
                <a:srgbClr val="1D9992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1">
                <a:solidFill>
                  <a:srgbClr val="141C26"/>
                </a:solidFill>
                <a:latin typeface="微软雅黑" panose="020B0503020204020204" charset="-122"/>
              </a:rPr>
              <a:t>0-90 天落地路线</a:t>
            </a:r>
            <a:endParaRPr sz="25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7" y="969264"/>
            <a:ext cx="104241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5C6876"/>
                </a:solidFill>
                <a:latin typeface="微软雅黑" panose="020B0503020204020204" charset="-122"/>
              </a:rPr>
              <a:t>先做可控场景，再扩大入口和工具；不要一开始就追求全业务自治。</a:t>
            </a:r>
            <a:endParaRPr sz="10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26974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2697480" cy="566928"/>
          </a:xfrm>
          <a:prstGeom prst="roundRect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92224"/>
            <a:ext cx="24231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Phase 0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2304288"/>
            <a:ext cx="24231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>
                <a:solidFill>
                  <a:srgbClr val="1D9992"/>
                </a:solidFill>
                <a:latin typeface="微软雅黑" panose="020B0503020204020204" charset="-122"/>
              </a:rPr>
              <a:t>0-2 周</a:t>
            </a:r>
            <a:endParaRPr sz="950" b="1">
              <a:solidFill>
                <a:srgbClr val="1D9992"/>
              </a:solidFill>
              <a:latin typeface="微软雅黑" panose="020B050302020402020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758952" y="2706624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33472"/>
            <a:ext cx="22677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141C26"/>
                </a:solidFill>
                <a:latin typeface="微软雅黑" panose="020B0503020204020204" charset="-122"/>
              </a:rPr>
              <a:t>确定 3-5 个高价值场景</a:t>
            </a:r>
            <a:endParaRPr sz="88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58952" y="3191256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18104"/>
            <a:ext cx="22677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141C26"/>
                </a:solidFill>
                <a:latin typeface="微软雅黑" panose="020B0503020204020204" charset="-122"/>
              </a:rPr>
              <a:t>定义安全红线和审批规则</a:t>
            </a:r>
            <a:endParaRPr sz="88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58952" y="3675888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02736"/>
            <a:ext cx="22677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141C26"/>
                </a:solidFill>
                <a:latin typeface="微软雅黑" panose="020B0503020204020204" charset="-122"/>
              </a:rPr>
              <a:t>建立评估任务集</a:t>
            </a:r>
            <a:endParaRPr sz="88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474720" y="1645920"/>
            <a:ext cx="26974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74720" y="1645920"/>
            <a:ext cx="2697480" cy="566928"/>
          </a:xfrm>
          <a:prstGeom prst="roundRect">
            <a:avLst/>
          </a:prstGeom>
          <a:solidFill>
            <a:srgbClr val="E4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1792224"/>
            <a:ext cx="24231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Phase 1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11879" y="2304288"/>
            <a:ext cx="24231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>
                <a:solidFill>
                  <a:srgbClr val="E4863A"/>
                </a:solidFill>
                <a:latin typeface="微软雅黑" panose="020B0503020204020204" charset="-122"/>
              </a:rPr>
              <a:t>3-6 周</a:t>
            </a:r>
            <a:endParaRPr sz="950" b="1">
              <a:solidFill>
                <a:srgbClr val="E4863A"/>
              </a:solidFill>
              <a:latin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3639312" y="2706624"/>
            <a:ext cx="82296" cy="82296"/>
          </a:xfrm>
          <a:prstGeom prst="ellipse">
            <a:avLst/>
          </a:prstGeom>
          <a:solidFill>
            <a:srgbClr val="E4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60" y="2633472"/>
            <a:ext cx="22677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141C26"/>
                </a:solidFill>
                <a:latin typeface="微软雅黑" panose="020B0503020204020204" charset="-122"/>
              </a:rPr>
              <a:t>封装 Agent Gateway</a:t>
            </a:r>
            <a:endParaRPr sz="88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3639312" y="3191256"/>
            <a:ext cx="82296" cy="82296"/>
          </a:xfrm>
          <a:prstGeom prst="ellipse">
            <a:avLst/>
          </a:prstGeom>
          <a:solidFill>
            <a:srgbClr val="E4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4760" y="3118104"/>
            <a:ext cx="22677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141C26"/>
                </a:solidFill>
                <a:latin typeface="微软雅黑" panose="020B0503020204020204" charset="-122"/>
              </a:rPr>
              <a:t>接入 Git / CI / 工单</a:t>
            </a:r>
            <a:endParaRPr sz="88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3639312" y="3675888"/>
            <a:ext cx="82296" cy="82296"/>
          </a:xfrm>
          <a:prstGeom prst="ellipse">
            <a:avLst/>
          </a:prstGeom>
          <a:solidFill>
            <a:srgbClr val="E4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60" y="3602736"/>
            <a:ext cx="22677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141C26"/>
                </a:solidFill>
                <a:latin typeface="微软雅黑" panose="020B0503020204020204" charset="-122"/>
              </a:rPr>
              <a:t>实现任务状态机和事件流</a:t>
            </a:r>
            <a:endParaRPr sz="88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55080" y="1645920"/>
            <a:ext cx="26974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55080" y="1645920"/>
            <a:ext cx="2697480" cy="566928"/>
          </a:xfrm>
          <a:prstGeom prst="roundRect">
            <a:avLst/>
          </a:prstGeom>
          <a:solidFill>
            <a:srgbClr val="765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792224"/>
            <a:ext cx="24231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Phase 2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92240" y="2304288"/>
            <a:ext cx="24231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>
                <a:solidFill>
                  <a:srgbClr val="7656B0"/>
                </a:solidFill>
                <a:latin typeface="微软雅黑" panose="020B0503020204020204" charset="-122"/>
              </a:rPr>
              <a:t>7-10 周</a:t>
            </a:r>
            <a:endParaRPr sz="950" b="1">
              <a:solidFill>
                <a:srgbClr val="7656B0"/>
              </a:solidFill>
              <a:latin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6519672" y="2706624"/>
            <a:ext cx="82296" cy="82296"/>
          </a:xfrm>
          <a:prstGeom prst="ellipse">
            <a:avLst/>
          </a:prstGeom>
          <a:solidFill>
            <a:srgbClr val="765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2633472"/>
            <a:ext cx="22677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141C26"/>
                </a:solidFill>
                <a:latin typeface="微软雅黑" panose="020B0503020204020204" charset="-122"/>
              </a:rPr>
              <a:t>上线 Worker 池和沙箱</a:t>
            </a:r>
            <a:endParaRPr sz="88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6519672" y="3191256"/>
            <a:ext cx="82296" cy="82296"/>
          </a:xfrm>
          <a:prstGeom prst="ellipse">
            <a:avLst/>
          </a:prstGeom>
          <a:solidFill>
            <a:srgbClr val="765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118104"/>
            <a:ext cx="22677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141C26"/>
                </a:solidFill>
                <a:latin typeface="微软雅黑" panose="020B0503020204020204" charset="-122"/>
              </a:rPr>
              <a:t>实现多用户/多租户隔离</a:t>
            </a:r>
            <a:endParaRPr sz="88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6519672" y="3675888"/>
            <a:ext cx="82296" cy="82296"/>
          </a:xfrm>
          <a:prstGeom prst="ellipse">
            <a:avLst/>
          </a:prstGeom>
          <a:solidFill>
            <a:srgbClr val="765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3602736"/>
            <a:ext cx="22677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141C26"/>
                </a:solidFill>
                <a:latin typeface="微软雅黑" panose="020B0503020204020204" charset="-122"/>
              </a:rPr>
              <a:t>打通审计和成本指标</a:t>
            </a:r>
            <a:endParaRPr sz="88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235440" y="1645920"/>
            <a:ext cx="26974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35440" y="1645920"/>
            <a:ext cx="2697480" cy="566928"/>
          </a:xfrm>
          <a:prstGeom prst="roundRect">
            <a:avLst/>
          </a:prstGeom>
          <a:solidFill>
            <a:srgbClr val="3F9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2600" y="1792224"/>
            <a:ext cx="24231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Phase 3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372600" y="2304288"/>
            <a:ext cx="24231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>
                <a:solidFill>
                  <a:srgbClr val="3F9C63"/>
                </a:solidFill>
                <a:latin typeface="微软雅黑" panose="020B0503020204020204" charset="-122"/>
              </a:rPr>
              <a:t>11-13 周</a:t>
            </a:r>
            <a:endParaRPr sz="950" b="1">
              <a:solidFill>
                <a:srgbClr val="3F9C63"/>
              </a:solidFill>
              <a:latin typeface="微软雅黑" panose="020B0503020204020204" charset="-122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9400032" y="2706624"/>
            <a:ext cx="82296" cy="82296"/>
          </a:xfrm>
          <a:prstGeom prst="ellipse">
            <a:avLst/>
          </a:prstGeom>
          <a:solidFill>
            <a:srgbClr val="3F9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55480" y="2633472"/>
            <a:ext cx="22677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141C26"/>
                </a:solidFill>
                <a:latin typeface="微软雅黑" panose="020B0503020204020204" charset="-122"/>
              </a:rPr>
              <a:t>扩展 ChatOps / IDE 入口</a:t>
            </a:r>
            <a:endParaRPr sz="88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9400032" y="3191256"/>
            <a:ext cx="82296" cy="82296"/>
          </a:xfrm>
          <a:prstGeom prst="ellipse">
            <a:avLst/>
          </a:prstGeom>
          <a:solidFill>
            <a:srgbClr val="3F9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55480" y="3118104"/>
            <a:ext cx="22677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141C26"/>
                </a:solidFill>
                <a:latin typeface="微软雅黑" panose="020B0503020204020204" charset="-122"/>
              </a:rPr>
              <a:t>补齐高风险审批</a:t>
            </a:r>
            <a:endParaRPr sz="88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9400032" y="3675888"/>
            <a:ext cx="82296" cy="82296"/>
          </a:xfrm>
          <a:prstGeom prst="ellipse">
            <a:avLst/>
          </a:prstGeom>
          <a:solidFill>
            <a:srgbClr val="3F9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55480" y="3602736"/>
            <a:ext cx="22677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141C26"/>
                </a:solidFill>
                <a:latin typeface="微软雅黑" panose="020B0503020204020204" charset="-122"/>
              </a:rPr>
              <a:t>用评估集持续调优</a:t>
            </a:r>
            <a:endParaRPr sz="88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02920" y="6565392"/>
            <a:ext cx="5486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848F9C"/>
                </a:solidFill>
                <a:latin typeface="微软雅黑" panose="020B0503020204020204" charset="-122"/>
              </a:rPr>
              <a:t>Codex 企业级 Agent 平台技术说明</a:t>
            </a:r>
            <a:endParaRPr sz="75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1201400" y="654710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848F9C"/>
                </a:solidFill>
                <a:latin typeface="微软雅黑" panose="020B0503020204020204" charset="-122"/>
              </a:rPr>
              <a:t>17</a:t>
            </a:r>
            <a:endParaRPr sz="80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D9992"/>
                </a:solidFill>
                <a:latin typeface="微软雅黑" panose="020B0503020204020204" charset="-122"/>
              </a:rPr>
              <a:t>17 / 决策</a:t>
            </a:r>
            <a:endParaRPr sz="950" b="1">
              <a:solidFill>
                <a:srgbClr val="1D9992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1">
                <a:solidFill>
                  <a:srgbClr val="141C26"/>
                </a:solidFill>
                <a:latin typeface="微软雅黑" panose="020B0503020204020204" charset="-122"/>
              </a:rPr>
              <a:t>验收指标与决策建议</a:t>
            </a:r>
            <a:endParaRPr sz="255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7" y="969264"/>
            <a:ext cx="104241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5C6876"/>
                </a:solidFill>
                <a:latin typeface="微软雅黑" panose="020B0503020204020204" charset="-122"/>
              </a:rPr>
              <a:t>企业级 Agent 平台上线前，应以任务闭环、安全治理和运营指标验收，而不是只做功能演示。</a:t>
            </a:r>
            <a:endParaRPr sz="108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566160" cy="1143000"/>
          </a:xfrm>
          <a:prstGeom prst="roundRect">
            <a:avLst/>
          </a:prstGeom>
          <a:solidFill>
            <a:srgbClr val="FCEFE2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ccent"/>
          <p:cNvSpPr/>
          <p:nvPr/>
        </p:nvSpPr>
        <p:spPr>
          <a:xfrm>
            <a:off x="685800" y="1691640"/>
            <a:ext cx="73152" cy="1143000"/>
          </a:xfrm>
          <a:prstGeom prst="rect">
            <a:avLst/>
          </a:prstGeom>
          <a:solidFill>
            <a:srgbClr val="E4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19656"/>
            <a:ext cx="325526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41C26"/>
                </a:solidFill>
                <a:latin typeface="微软雅黑" panose="020B0503020204020204" charset="-122"/>
              </a:rPr>
              <a:t>性能指标</a:t>
            </a:r>
            <a:endParaRPr sz="130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850392" y="2249424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39" y="2176272"/>
            <a:ext cx="30998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20" b="0">
                <a:solidFill>
                  <a:srgbClr val="141C26"/>
                </a:solidFill>
                <a:latin typeface="微软雅黑" panose="020B0503020204020204" charset="-122"/>
              </a:rPr>
              <a:t>P50/P95 完成时间</a:t>
            </a:r>
            <a:endParaRPr sz="92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50392" y="2734056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39" y="2660904"/>
            <a:ext cx="30998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20" b="0">
                <a:solidFill>
                  <a:srgbClr val="141C26"/>
                </a:solidFill>
                <a:latin typeface="微软雅黑" panose="020B0503020204020204" charset="-122"/>
              </a:rPr>
              <a:t>队列等待时间</a:t>
            </a:r>
            <a:endParaRPr sz="92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50392" y="3218688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39" y="3145536"/>
            <a:ext cx="30998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20" b="0">
                <a:solidFill>
                  <a:srgbClr val="141C26"/>
                </a:solidFill>
                <a:latin typeface="微软雅黑" panose="020B0503020204020204" charset="-122"/>
              </a:rPr>
              <a:t>工具耗时占比</a:t>
            </a:r>
            <a:endParaRPr sz="92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850392" y="3703320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39" y="3630168"/>
            <a:ext cx="30998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20" b="0">
                <a:solidFill>
                  <a:srgbClr val="141C26"/>
                </a:solidFill>
                <a:latin typeface="微软雅黑" panose="020B0503020204020204" charset="-122"/>
              </a:rPr>
              <a:t>单位任务成本</a:t>
            </a:r>
            <a:endParaRPr sz="92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434840" y="1691640"/>
            <a:ext cx="3566160" cy="114300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ccent"/>
          <p:cNvSpPr/>
          <p:nvPr/>
        </p:nvSpPr>
        <p:spPr>
          <a:xfrm>
            <a:off x="4434840" y="1691640"/>
            <a:ext cx="73152" cy="1143000"/>
          </a:xfrm>
          <a:prstGeom prst="rect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1" y="1819656"/>
            <a:ext cx="325526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41C26"/>
                </a:solidFill>
                <a:latin typeface="微软雅黑" panose="020B0503020204020204" charset="-122"/>
              </a:rPr>
              <a:t>质量指标</a:t>
            </a:r>
            <a:endParaRPr sz="130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599431" y="2249424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79" y="2176272"/>
            <a:ext cx="30998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20" b="0">
                <a:solidFill>
                  <a:srgbClr val="141C26"/>
                </a:solidFill>
                <a:latin typeface="微软雅黑" panose="020B0503020204020204" charset="-122"/>
              </a:rPr>
              <a:t>任务成功率</a:t>
            </a:r>
            <a:endParaRPr sz="92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599431" y="2734056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79" y="2660904"/>
            <a:ext cx="30998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20" b="0">
                <a:solidFill>
                  <a:srgbClr val="141C26"/>
                </a:solidFill>
                <a:latin typeface="微软雅黑" panose="020B0503020204020204" charset="-122"/>
              </a:rPr>
              <a:t>一次通过率</a:t>
            </a:r>
            <a:endParaRPr sz="92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599431" y="3218688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79" y="3145536"/>
            <a:ext cx="30998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20" b="0">
                <a:solidFill>
                  <a:srgbClr val="141C26"/>
                </a:solidFill>
                <a:latin typeface="微软雅黑" panose="020B0503020204020204" charset="-122"/>
              </a:rPr>
              <a:t>测试覆盖与失败归因</a:t>
            </a:r>
            <a:endParaRPr sz="92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4599431" y="3703320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79" y="3630168"/>
            <a:ext cx="30998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20" b="0">
                <a:solidFill>
                  <a:srgbClr val="141C26"/>
                </a:solidFill>
                <a:latin typeface="微软雅黑" panose="020B0503020204020204" charset="-122"/>
              </a:rPr>
              <a:t>人工接管率</a:t>
            </a:r>
            <a:endParaRPr sz="92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183879" y="1691640"/>
            <a:ext cx="3566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ccent"/>
          <p:cNvSpPr/>
          <p:nvPr/>
        </p:nvSpPr>
        <p:spPr>
          <a:xfrm>
            <a:off x="8183879" y="1691640"/>
            <a:ext cx="73152" cy="1143000"/>
          </a:xfrm>
          <a:prstGeom prst="rect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48471" y="1819656"/>
            <a:ext cx="3255264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41C26"/>
                </a:solidFill>
                <a:latin typeface="微软雅黑" panose="020B0503020204020204" charset="-122"/>
              </a:rPr>
              <a:t>安全指标</a:t>
            </a:r>
            <a:endParaRPr sz="130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8348471" y="2249424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19" y="2176272"/>
            <a:ext cx="30998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20" b="0">
                <a:solidFill>
                  <a:srgbClr val="141C26"/>
                </a:solidFill>
                <a:latin typeface="微软雅黑" panose="020B0503020204020204" charset="-122"/>
              </a:rPr>
              <a:t>危险动作拦截率</a:t>
            </a:r>
            <a:endParaRPr sz="92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8348471" y="2734056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19" y="2660904"/>
            <a:ext cx="30998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20" b="0">
                <a:solidFill>
                  <a:srgbClr val="141C26"/>
                </a:solidFill>
                <a:latin typeface="微软雅黑" panose="020B0503020204020204" charset="-122"/>
              </a:rPr>
              <a:t>越权访问事件</a:t>
            </a:r>
            <a:endParaRPr sz="92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8348471" y="3218688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19" y="3145536"/>
            <a:ext cx="30998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20" b="0">
                <a:solidFill>
                  <a:srgbClr val="141C26"/>
                </a:solidFill>
                <a:latin typeface="微软雅黑" panose="020B0503020204020204" charset="-122"/>
              </a:rPr>
              <a:t>审批留痕完整率</a:t>
            </a:r>
            <a:endParaRPr sz="92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8348471" y="3703320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19" y="3630168"/>
            <a:ext cx="30998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20" b="0">
                <a:solidFill>
                  <a:srgbClr val="141C26"/>
                </a:solidFill>
                <a:latin typeface="微软雅黑" panose="020B0503020204020204" charset="-122"/>
              </a:rPr>
              <a:t>敏感数据暴露数</a:t>
            </a:r>
            <a:endParaRPr sz="92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31520" y="3456432"/>
            <a:ext cx="20116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41C26"/>
                </a:solidFill>
                <a:latin typeface="微软雅黑" panose="020B0503020204020204" charset="-122"/>
              </a:rPr>
              <a:t>建议选择</a:t>
            </a:r>
            <a:endParaRPr sz="1600" b="1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777240" y="3959352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" y="3886200"/>
            <a:ext cx="1054303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0">
                <a:solidFill>
                  <a:srgbClr val="141C26"/>
                </a:solidFill>
                <a:latin typeface="微软雅黑" panose="020B0503020204020204" charset="-122"/>
              </a:rPr>
              <a:t>主方案：以 Codex 二次开发作为软件工程 Agent 执行层，外围建设统一入口、编排、策略、沙箱和观测。</a:t>
            </a:r>
            <a:endParaRPr sz="112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777240" y="4443984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4370832"/>
            <a:ext cx="1054303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0">
                <a:solidFill>
                  <a:srgbClr val="141C26"/>
                </a:solidFill>
                <a:latin typeface="微软雅黑" panose="020B0503020204020204" charset="-122"/>
              </a:rPr>
              <a:t>组合策略：Claude 可作为模型能力补充；OpenClaw 可用于开源可控试验和特定私有化要求。</a:t>
            </a:r>
            <a:endParaRPr sz="112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777240" y="4928616"/>
            <a:ext cx="82296" cy="82296"/>
          </a:xfrm>
          <a:prstGeom prst="ellipse">
            <a:avLst/>
          </a:prstGeom>
          <a:solidFill>
            <a:srgbClr val="1D9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4855464"/>
            <a:ext cx="1054303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0">
                <a:solidFill>
                  <a:srgbClr val="141C26"/>
                </a:solidFill>
                <a:latin typeface="微软雅黑" panose="020B0503020204020204" charset="-122"/>
              </a:rPr>
              <a:t>关键前提：不要让 Agent 直接越过平台治理调用生产系统；所有高风险动作必须可审批、可审计、可回滚。</a:t>
            </a:r>
            <a:endParaRPr sz="1120" b="0">
              <a:solidFill>
                <a:srgbClr val="141C26"/>
              </a:solidFill>
              <a:latin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731520" y="5715000"/>
            <a:ext cx="10789920" cy="502920"/>
          </a:xfrm>
          <a:prstGeom prst="roundRect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5870448"/>
            <a:ext cx="1024128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结论：Codex 的优势不只是模型，而是更容易把企业真实代码任务变成可执行、可追踪、可治理的工程闭环。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02920" y="6565392"/>
            <a:ext cx="5486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848F9C"/>
                </a:solidFill>
                <a:latin typeface="微软雅黑" panose="020B0503020204020204" charset="-122"/>
              </a:rPr>
              <a:t>Codex 企业级 Agent 平台技术说明</a:t>
            </a:r>
            <a:endParaRPr sz="75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1201400" y="654710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848F9C"/>
                </a:solidFill>
                <a:latin typeface="微软雅黑" panose="020B0503020204020204" charset="-122"/>
              </a:rPr>
              <a:t>18</a:t>
            </a:r>
            <a:endParaRPr sz="800" b="0">
              <a:solidFill>
                <a:srgbClr val="848F9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6714</Words>
  <Application>WPS 演示</Application>
  <PresentationFormat>On-screen Show (4:3)</PresentationFormat>
  <Paragraphs>864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唐春</cp:lastModifiedBy>
  <cp:revision>2</cp:revision>
  <dcterms:created xsi:type="dcterms:W3CDTF">2013-01-27T09:14:00Z</dcterms:created>
  <dcterms:modified xsi:type="dcterms:W3CDTF">2026-06-08T15:56:29Z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408677AFF7AB4EE3A551CD2A51331D38_12</vt:lpwstr>
  </property>
  <property fmtid="{D5CDD505-2E9C-101B-9397-08002B2CF9AE}" pid="3" name="KSOProductBuildVer">
    <vt:lpwstr>2052-12.1.0.19770</vt:lpwstr>
  </property>
</Properties>
</file>