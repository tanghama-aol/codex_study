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1018520" cy="5650992"/>
          </a:xfrm>
          <a:prstGeom prst="rect">
            <a:avLst/>
          </a:prstGeom>
          <a:solidFill>
            <a:srgbClr val="1F252B"/>
          </a:solidFill>
          <a:ln w="12700">
            <a:solidFill>
              <a:srgbClr val="58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60120"/>
            <a:ext cx="868680" cy="9144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16736"/>
            <a:ext cx="42976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Codex 二次开发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7132320" cy="11704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企业级 Agent 平台</a:t>
            </a:r>
          </a:p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技术说明演示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474720"/>
            <a:ext cx="86868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性能、安全、人工介入、多并发、多用户、多轮会话、外部系统连接与入口开发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800600"/>
            <a:ext cx="10012680" cy="18288"/>
          </a:xfrm>
          <a:prstGeom prst="rect">
            <a:avLst/>
          </a:prstGeom>
          <a:solidFill>
            <a:srgbClr val="586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5760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企业架构 / 平台工程 / 安全合规评审版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5166360"/>
            <a:ext cx="166420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2026-06-08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78992"/>
            <a:ext cx="2377440" cy="71323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2029968"/>
            <a:ext cx="2377440" cy="713232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2980944"/>
            <a:ext cx="2377440" cy="713232"/>
          </a:xfrm>
          <a:prstGeom prst="rect">
            <a:avLst/>
          </a:prstGeom>
          <a:solidFill>
            <a:srgbClr val="6F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3931920"/>
            <a:ext cx="2377440" cy="713232"/>
          </a:xfrm>
          <a:prstGeom prst="rect">
            <a:avLst/>
          </a:prstGeom>
          <a:solidFill>
            <a:srgbClr val="3F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1271016"/>
            <a:ext cx="171907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221992"/>
            <a:ext cx="171907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984" y="3172968"/>
            <a:ext cx="171907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4123944"/>
            <a:ext cx="171907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审计回滚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一页结论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的价值在于把代码任务做成可治理的工程闭环。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057400"/>
            <a:ext cx="3246120" cy="1417320"/>
          </a:xfrm>
          <a:prstGeom prst="rect">
            <a:avLst/>
          </a:prstGeom>
          <a:solidFill>
            <a:srgbClr val="E1F4F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057400"/>
            <a:ext cx="109728" cy="141732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60904"/>
            <a:ext cx="280720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适合作为工程任务执行层：读代码、改代码、跑测试、产出 diff。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057400"/>
            <a:ext cx="3246120" cy="1417320"/>
          </a:xfrm>
          <a:prstGeom prst="rect">
            <a:avLst/>
          </a:prstGeom>
          <a:solidFill>
            <a:srgbClr val="FAEEE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057400"/>
            <a:ext cx="109728" cy="1417320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24028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660904"/>
            <a:ext cx="280720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适合开源可控和 PoC；企业级治理、并发和审计通常要补齐。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057400"/>
            <a:ext cx="3246120" cy="1417320"/>
          </a:xfrm>
          <a:prstGeom prst="rect">
            <a:avLst/>
          </a:prstGeom>
          <a:solidFill>
            <a:srgbClr val="EFEBF8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109728" cy="1417320"/>
          </a:xfrm>
          <a:prstGeom prst="rect">
            <a:avLst/>
          </a:prstGeom>
          <a:solidFill>
            <a:srgbClr val="6F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24028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6F57A6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660904"/>
            <a:ext cx="280720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适合长上下文和高质量分析；工程执行平台仍需外围治理。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160520"/>
            <a:ext cx="10469880" cy="96012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462272"/>
            <a:ext cx="9921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推荐组合：Codex 作为软件工程 Agent Worker，企业平台负责身份、会话、调度、审批、审计和连接器。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平台建设目标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企业级 Agent 平台先解决控制边界，再追求模型能力。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3246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109728" cy="205740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14884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工程闭环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569464"/>
            <a:ext cx="2807208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从需求到补丁、测试、验收和回滚，形成可复用流程。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965960"/>
            <a:ext cx="3246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965960"/>
            <a:ext cx="109728" cy="2057400"/>
          </a:xfrm>
          <a:prstGeom prst="rect">
            <a:avLst/>
          </a:prstGeom>
          <a:solidFill>
            <a:srgbClr val="B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14884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治理闭环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569464"/>
            <a:ext cx="2807208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权限、密钥、审批、审计、DLP、网络策略统一管理。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965960"/>
            <a:ext cx="3246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65960"/>
            <a:ext cx="109728" cy="20574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14884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运营闭环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569464"/>
            <a:ext cx="2807208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用成功率、成本、SLA、人工接管率和风险事件持续优化。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4837176"/>
            <a:ext cx="109728" cy="109728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4709160"/>
            <a:ext cx="9784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平台对外暴露统一入口，对内调度多个 Codex Worker。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" y="5440680"/>
            <a:ext cx="109728" cy="109728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5312664"/>
            <a:ext cx="9784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每次执行都留下可验收的证据：diff、日志、测试结果、审批记录。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Codex / OpenClaw / Claude 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按企业落地维度比较，而不是只看单轮回答。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132588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11679"/>
            <a:ext cx="1234439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9112" y="1874519"/>
            <a:ext cx="329184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1" y="2011679"/>
            <a:ext cx="320040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1874519"/>
            <a:ext cx="329184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011679"/>
            <a:ext cx="320040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22792" y="1874519"/>
            <a:ext cx="329184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2011679"/>
            <a:ext cx="320040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377439"/>
            <a:ext cx="1325880" cy="667512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68879"/>
            <a:ext cx="117957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9112" y="2377439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2264" y="2468879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工程 Agent 执行层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0952" y="2377439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4" y="2468879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开源 Agent 框架类方案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22792" y="2377439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5944" y="2468879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通用强推理模型/助手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044951"/>
            <a:ext cx="1325880" cy="667512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136391"/>
            <a:ext cx="117957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9112" y="3044951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12264" y="3136391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代码编辑、测试、审查链路完整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0952" y="3044951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4104" y="3136391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源码可控，便于深度改造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22792" y="3044951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3136391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长上下文分析和表达能力强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712463"/>
            <a:ext cx="1325880" cy="667512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3803903"/>
            <a:ext cx="117957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企业开发量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9112" y="3712463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3803903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中等：封装平台控制面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0952" y="3712463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4104" y="3803903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较高：治理能力多需自建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22792" y="3712463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95944" y="3803903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中高：执行闭环需自建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379975"/>
            <a:ext cx="1325880" cy="667512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471415"/>
            <a:ext cx="117957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安全落点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39112" y="4379975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12264" y="4471415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沙箱、审批、审计可平台化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30952" y="4379975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4104" y="4471415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透明但需安全硬化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22792" y="4379975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95944" y="4471415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依赖外围工具和策略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5047488"/>
            <a:ext cx="1325880" cy="667512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" y="5138927"/>
            <a:ext cx="117957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推荐用途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39112" y="5047488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12264" y="5138927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研发、DevOps、代码库自动化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0952" y="5047488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04104" y="5138927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私有化探索和 PoC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22792" y="5047488"/>
            <a:ext cx="3291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95944" y="5138927"/>
            <a:ext cx="3145536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分析、文档、复杂推理补充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参考总体架构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位于执行层，企业治理能力放在平台控制面。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47088"/>
            <a:ext cx="8823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847088"/>
            <a:ext cx="1600200" cy="658368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39112"/>
            <a:ext cx="12344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29968"/>
            <a:ext cx="65379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Web / IDE / CLI / ChatOps / 工单 / CI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2505456"/>
            <a:ext cx="0" cy="237744"/>
          </a:xfrm>
          <a:prstGeom prst="line">
            <a:avLst/>
          </a:prstGeom>
          <a:ln w="1397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60120" y="2743200"/>
            <a:ext cx="8823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2743200"/>
            <a:ext cx="1600200" cy="658368"/>
          </a:xfrm>
          <a:prstGeom prst="rect">
            <a:avLst/>
          </a:prstGeom>
          <a:solidFill>
            <a:srgbClr val="6F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935224"/>
            <a:ext cx="12344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926080"/>
            <a:ext cx="65379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认证、租户识别、路由、限流、事件流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" y="3401568"/>
            <a:ext cx="0" cy="237744"/>
          </a:xfrm>
          <a:prstGeom prst="line">
            <a:avLst/>
          </a:prstGeom>
          <a:ln w="1397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60120" y="3639312"/>
            <a:ext cx="8823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3639312"/>
            <a:ext cx="1600200" cy="658368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831336"/>
            <a:ext cx="12344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822191"/>
            <a:ext cx="65379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任务状态机、多轮会话、审批点、队列调度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4297680"/>
            <a:ext cx="0" cy="237744"/>
          </a:xfrm>
          <a:prstGeom prst="line">
            <a:avLst/>
          </a:prstGeom>
          <a:ln w="1397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60120" y="4535424"/>
            <a:ext cx="8823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4535424"/>
            <a:ext cx="1600200" cy="658368"/>
          </a:xfrm>
          <a:prstGeom prst="rect">
            <a:avLst/>
          </a:prstGeom>
          <a:solidFill>
            <a:srgbClr val="3F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727448"/>
            <a:ext cx="12344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718304"/>
            <a:ext cx="65379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Codex Worker、沙箱工作区、模型路由、工具运行时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4960" y="5193792"/>
            <a:ext cx="0" cy="237744"/>
          </a:xfrm>
          <a:prstGeom prst="line">
            <a:avLst/>
          </a:prstGeom>
          <a:ln w="1397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60120" y="5431536"/>
            <a:ext cx="8823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" y="5431536"/>
            <a:ext cx="1600200" cy="658368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623559"/>
            <a:ext cx="12344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614416"/>
            <a:ext cx="65379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MCP、Git、CI、知识库、数据库、业务系统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8128" y="1993392"/>
            <a:ext cx="1143000" cy="324612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41864" y="2331720"/>
            <a:ext cx="80467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9296" y="3154680"/>
            <a:ext cx="749808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RBAC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策略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Codex 二次开发切入点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把能力拆成可配置、可审计、可复用的接口。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74519"/>
            <a:ext cx="3246120" cy="1234440"/>
          </a:xfrm>
          <a:prstGeom prst="rect">
            <a:avLst/>
          </a:prstGeom>
          <a:solidFill>
            <a:srgbClr val="E1F4F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874519"/>
            <a:ext cx="109728" cy="123444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SDK /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478024"/>
            <a:ext cx="2807208" cy="5212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创建任务、订阅事件、读取产物、控制取消和恢复。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1874519"/>
            <a:ext cx="3246120" cy="1234440"/>
          </a:xfrm>
          <a:prstGeom prst="rect">
            <a:avLst/>
          </a:prstGeom>
          <a:solidFill>
            <a:srgbClr val="FAEEE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4" y="1874519"/>
            <a:ext cx="109728" cy="1234440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Skills / 插件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78024"/>
            <a:ext cx="2807208" cy="5212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沉淀代码审查、发布检查、报表生成等复用流程。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3" y="1874519"/>
            <a:ext cx="3246120" cy="1234440"/>
          </a:xfrm>
          <a:prstGeom prst="rect">
            <a:avLst/>
          </a:prstGeom>
          <a:solidFill>
            <a:srgbClr val="F9E7E7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874519"/>
            <a:ext cx="109728" cy="1234440"/>
          </a:xfrm>
          <a:prstGeom prst="rect">
            <a:avLst/>
          </a:prstGeom>
          <a:solidFill>
            <a:srgbClr val="B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Hooks / 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2478024"/>
            <a:ext cx="2807208" cy="5212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在工具调用、文件编辑、提交前后插入校验与审批。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474720"/>
            <a:ext cx="3246120" cy="1234440"/>
          </a:xfrm>
          <a:prstGeom prst="rect">
            <a:avLst/>
          </a:prstGeom>
          <a:solidFill>
            <a:srgbClr val="E4EDF9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3474720"/>
            <a:ext cx="109728" cy="123444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6576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MCP / 连接器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4078224"/>
            <a:ext cx="2807208" cy="5212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接入 Git、知识库、数据库、工单和内部服务。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9704" y="3474720"/>
            <a:ext cx="3246120" cy="1234440"/>
          </a:xfrm>
          <a:prstGeom prst="rect">
            <a:avLst/>
          </a:prstGeom>
          <a:solidFill>
            <a:srgbClr val="E5F3E9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9704" y="3474720"/>
            <a:ext cx="109728" cy="1234440"/>
          </a:xfrm>
          <a:prstGeom prst="rect">
            <a:avLst/>
          </a:prstGeom>
          <a:solidFill>
            <a:srgbClr val="3F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36576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3F8F56"/>
                </a:solidFill>
                <a:latin typeface="Microsoft YaHei"/>
                <a:ea typeface="Microsoft YaHei"/>
                <a:cs typeface="Microsoft YaHei"/>
              </a:rPr>
              <a:t>Worker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736" y="4078224"/>
            <a:ext cx="2807208" cy="5212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沙箱、资源预算、网络策略、工具白名单和日志采集。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3" y="3474720"/>
            <a:ext cx="3246120" cy="1234440"/>
          </a:xfrm>
          <a:prstGeom prst="rect">
            <a:avLst/>
          </a:prstGeom>
          <a:solidFill>
            <a:srgbClr val="EFEBF8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3023" y="3474720"/>
            <a:ext cx="109728" cy="1234440"/>
          </a:xfrm>
          <a:prstGeom prst="rect">
            <a:avLst/>
          </a:prstGeom>
          <a:solidFill>
            <a:srgbClr val="6F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5" y="36576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6F57A6"/>
                </a:solidFill>
                <a:latin typeface="Microsoft YaHei"/>
                <a:ea typeface="Microsoft YaHei"/>
                <a:cs typeface="Microsoft YaHei"/>
              </a:rPr>
              <a:t>企业提示模板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5" y="4078224"/>
            <a:ext cx="2807208" cy="5212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角色、约束、输出格式、验收标准、风险边界统一管理。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入口开发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入口只负责体验和身份，任务都进入统一 Agent Gateway。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1965960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0C8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16916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Web 控制台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07208" y="2112264"/>
            <a:ext cx="3182112" cy="859536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" y="2761488"/>
            <a:ext cx="1965960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2D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916936"/>
            <a:ext cx="16916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IDE 插件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807208" y="2971800"/>
            <a:ext cx="3182112" cy="73152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3694176"/>
            <a:ext cx="1965960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3F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849624"/>
            <a:ext cx="16916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F8F56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807208" y="2971800"/>
            <a:ext cx="3182112" cy="1005839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62288" y="1828800"/>
            <a:ext cx="1965960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C06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1984248"/>
            <a:ext cx="16916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ChatOps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989320" y="2112264"/>
            <a:ext cx="3172968" cy="859536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62288" y="2761488"/>
            <a:ext cx="1965960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6F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916936"/>
            <a:ext cx="16916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6F57A6"/>
                </a:solidFill>
                <a:latin typeface="Microsoft YaHei"/>
                <a:ea typeface="Microsoft YaHei"/>
                <a:cs typeface="Microsoft YaHei"/>
              </a:rPr>
              <a:t>工单系统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5989320" y="2971800"/>
            <a:ext cx="3172968" cy="73152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62288" y="3694176"/>
            <a:ext cx="1965960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B8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3849624"/>
            <a:ext cx="16916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CI/CD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5989320" y="2971800"/>
            <a:ext cx="3172968" cy="1005839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434840" y="2148840"/>
            <a:ext cx="3108960" cy="16002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2505456"/>
            <a:ext cx="25420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999232"/>
            <a:ext cx="261518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SSO / 租户 / 路由 / 限流 / 事件流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828032"/>
            <a:ext cx="8092440" cy="658368"/>
          </a:xfrm>
          <a:prstGeom prst="rect">
            <a:avLst/>
          </a:prstGeom>
          <a:solidFill>
            <a:srgbClr val="E1F4F2"/>
          </a:solidFill>
          <a:ln w="12700">
            <a:solidFill>
              <a:srgbClr val="0C8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5047488"/>
            <a:ext cx="7726679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入口协议统一后，任意入口都能复用同一套审批、审计、会话和产物管理能力。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多用户与多并发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并发能力来自平台调度，不应让单个 Agent 承担全局状态。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74519"/>
            <a:ext cx="3246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874519"/>
            <a:ext cx="109728" cy="155448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隔离模型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78024"/>
            <a:ext cx="2807208" cy="84124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Tenant / User / Project / Session / Task / Run 分层隔离。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874519"/>
            <a:ext cx="3246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1874519"/>
            <a:ext cx="109728" cy="1554480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调度模型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478024"/>
            <a:ext cx="2807208" cy="84124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队列按租户配额、优先级、SLA、风险等级分发到 Worker。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3246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109728" cy="1554480"/>
          </a:xfrm>
          <a:prstGeom prst="rect">
            <a:avLst/>
          </a:prstGeom>
          <a:solidFill>
            <a:srgbClr val="3F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3F8F56"/>
                </a:solidFill>
                <a:latin typeface="Microsoft YaHei"/>
                <a:ea typeface="Microsoft YaHei"/>
                <a:cs typeface="Microsoft YaHei"/>
              </a:rPr>
              <a:t>运行模型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478024"/>
            <a:ext cx="2807208" cy="84124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每个任务独立工作区；取消、重试、恢复依赖 checkpoint。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43400"/>
            <a:ext cx="10012680" cy="86868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4645152"/>
            <a:ext cx="95097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关键实现：Redis/消息队列负责排队，PostgreSQL 记录状态，Worker 池水平扩展，事件流实时回传进度。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多轮会话管理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上下文要被管理，而不是无限拼接到提示词里。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1874519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0C8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468880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原始对话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16352"/>
            <a:ext cx="1645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只保留必要轮次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79" y="2743200"/>
            <a:ext cx="338329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35808" y="2240280"/>
            <a:ext cx="1874519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C06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2468880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任务摘要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816352"/>
            <a:ext cx="1645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持续压缩决策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0327" y="2743200"/>
            <a:ext cx="338329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48656" y="2240280"/>
            <a:ext cx="1874519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2D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468880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检索上下文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816352"/>
            <a:ext cx="1645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按权限取数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3176" y="2743200"/>
            <a:ext cx="338328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461504" y="2240280"/>
            <a:ext cx="1874519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3F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2468880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F8F56"/>
                </a:solidFill>
                <a:latin typeface="Microsoft YaHei"/>
                <a:ea typeface="Microsoft YaHei"/>
                <a:cs typeface="Microsoft YaHei"/>
              </a:rPr>
              <a:t>执行产物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816352"/>
            <a:ext cx="1645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diff / 日志 / 测试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36024" y="2743200"/>
            <a:ext cx="338328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74352" y="2240280"/>
            <a:ext cx="1874519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6F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0656" y="2468880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6F57A6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816352"/>
            <a:ext cx="1645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恢复和回滚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562855"/>
            <a:ext cx="109728" cy="109728"/>
          </a:xfrm>
          <a:prstGeom prst="rect">
            <a:avLst/>
          </a:prstGeom>
          <a:solidFill>
            <a:srgbClr val="6F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434840"/>
            <a:ext cx="9784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会话存储不等于模型上下文：先过滤权限，再摘要，再检索补齐。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5184647"/>
            <a:ext cx="109728" cy="109728"/>
          </a:xfrm>
          <a:prstGeom prst="rect">
            <a:avLst/>
          </a:prstGeom>
          <a:solidFill>
            <a:srgbClr val="6F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056631"/>
            <a:ext cx="9784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每轮输出都绑定任务状态，避免多入口并发修改导致上下文错乱。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用户介入机制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Human-in-the-Loop 是状态机能力，不是临时弹窗。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84831"/>
            <a:ext cx="1737360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0C8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04288"/>
            <a:ext cx="151790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计划确认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1554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影响范围不清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578608"/>
            <a:ext cx="475488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99232" y="2084831"/>
            <a:ext cx="1737360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C06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304288"/>
            <a:ext cx="151790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高风险工具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651760"/>
            <a:ext cx="1554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删除/发布/权限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2578608"/>
            <a:ext cx="475488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66944" y="2084831"/>
            <a:ext cx="1737360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B8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304288"/>
            <a:ext cx="151790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外部提交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3" y="2651760"/>
            <a:ext cx="1554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PR、工单、邮件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04304" y="2578608"/>
            <a:ext cx="475488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534656" y="2084831"/>
            <a:ext cx="1737360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6F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383" y="2304288"/>
            <a:ext cx="151790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6F57A6"/>
                </a:solidFill>
                <a:latin typeface="Microsoft YaHei"/>
                <a:ea typeface="Microsoft YaHei"/>
                <a:cs typeface="Microsoft YaHei"/>
              </a:rPr>
              <a:t>异常接管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651760"/>
            <a:ext cx="1554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测试失败或越权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72016" y="2578608"/>
            <a:ext cx="475488" cy="0"/>
          </a:xfrm>
          <a:prstGeom prst="line">
            <a:avLst/>
          </a:prstGeom>
          <a:ln w="1270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802368" y="2084831"/>
            <a:ext cx="1737360" cy="987552"/>
          </a:xfrm>
          <a:prstGeom prst="rect">
            <a:avLst/>
          </a:prstGeom>
          <a:solidFill>
            <a:srgbClr val="FFFFFF"/>
          </a:solidFill>
          <a:ln w="16510">
            <a:solidFill>
              <a:srgbClr val="3F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2096" y="2304288"/>
            <a:ext cx="151790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3F8F56"/>
                </a:solidFill>
                <a:latin typeface="Microsoft YaHei"/>
                <a:ea typeface="Microsoft YaHei"/>
                <a:cs typeface="Microsoft YaHei"/>
              </a:rPr>
              <a:t>继续执行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2651760"/>
            <a:ext cx="1554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记录审批证据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160520"/>
            <a:ext cx="10287000" cy="960120"/>
          </a:xfrm>
          <a:prstGeom prst="rect">
            <a:avLst/>
          </a:prstGeom>
          <a:solidFill>
            <a:srgbClr val="F9E7E7"/>
          </a:solidFill>
          <a:ln w="12700">
            <a:solidFill>
              <a:srgbClr val="B8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480560"/>
            <a:ext cx="97840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实现要点：暂停 Worker、保存上下文、展示风险说明、要求审批人选择继续/改计划/取消，并把决定写入审计链。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外部系统连接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所有工具进入 Tool Registry，统一 schema、权限和审计。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2331720"/>
            <a:ext cx="3520440" cy="109728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78608"/>
            <a:ext cx="2834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999232"/>
            <a:ext cx="27889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E0E7EC"/>
                </a:solidFill>
                <a:latin typeface="Microsoft YaHei"/>
                <a:ea typeface="Microsoft YaHei"/>
                <a:cs typeface="Microsoft YaHei"/>
              </a:rPr>
              <a:t>MCP / API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1920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C8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984248"/>
            <a:ext cx="168249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Git / PR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395728"/>
            <a:ext cx="4251960" cy="493776"/>
          </a:xfrm>
          <a:prstGeom prst="line">
            <a:avLst/>
          </a:prstGeom>
          <a:ln w="1143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182112" y="1481328"/>
            <a:ext cx="1920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06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0984" y="1636776"/>
            <a:ext cx="168249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CI/CD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42232" y="2048256"/>
            <a:ext cx="1938528" cy="841248"/>
          </a:xfrm>
          <a:prstGeom prst="line">
            <a:avLst/>
          </a:prstGeom>
          <a:ln w="1143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955279" y="1481328"/>
            <a:ext cx="1920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6F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636776"/>
            <a:ext cx="168249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6F57A6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80760" y="2048256"/>
            <a:ext cx="2834640" cy="841248"/>
          </a:xfrm>
          <a:prstGeom prst="line">
            <a:avLst/>
          </a:prstGeom>
          <a:ln w="1143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012680" y="2340864"/>
            <a:ext cx="1920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3F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496312"/>
            <a:ext cx="168249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3F8F56"/>
                </a:solidFill>
                <a:latin typeface="Microsoft YaHei"/>
                <a:ea typeface="Microsoft YaHei"/>
                <a:cs typeface="Microsoft YaHei"/>
              </a:rPr>
              <a:t>工单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080760" y="2889504"/>
            <a:ext cx="4892040" cy="18288"/>
          </a:xfrm>
          <a:prstGeom prst="line">
            <a:avLst/>
          </a:prstGeom>
          <a:ln w="1143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001000" y="4617720"/>
            <a:ext cx="1920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2D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4773168"/>
            <a:ext cx="168249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数据库/日志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080760" y="2889504"/>
            <a:ext cx="2880360" cy="1728216"/>
          </a:xfrm>
          <a:prstGeom prst="line">
            <a:avLst/>
          </a:prstGeom>
          <a:ln w="1143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090672" y="4617720"/>
            <a:ext cx="1920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B8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9544" y="4773168"/>
            <a:ext cx="168249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业务 API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050791" y="2889504"/>
            <a:ext cx="2029969" cy="1728216"/>
          </a:xfrm>
          <a:prstGeom prst="line">
            <a:avLst/>
          </a:prstGeom>
          <a:ln w="1143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68680" y="3602736"/>
            <a:ext cx="1920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D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3758184"/>
            <a:ext cx="168249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CD972F"/>
                </a:solidFill>
                <a:latin typeface="Microsoft YaHei"/>
                <a:ea typeface="Microsoft YaHei"/>
                <a:cs typeface="Microsoft YaHei"/>
              </a:rPr>
              <a:t>WPS/浏览器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828800" y="2889504"/>
            <a:ext cx="4251960" cy="713232"/>
          </a:xfrm>
          <a:prstGeom prst="line">
            <a:avLst/>
          </a:prstGeom>
          <a:ln w="11430">
            <a:solidFill>
              <a:srgbClr val="546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51560" y="5577840"/>
            <a:ext cx="10058400" cy="475488"/>
          </a:xfrm>
          <a:prstGeom prst="rect">
            <a:avLst/>
          </a:prstGeom>
          <a:solidFill>
            <a:srgbClr val="E4EDF9"/>
          </a:solidFill>
          <a:ln w="12700">
            <a:solidFill>
              <a:srgbClr val="2D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5715000"/>
            <a:ext cx="963777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工具声明必须包含：输入 schema、权限范围、超时、幂等键、重试策略、脱敏字段和审计字段。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安全与合规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把 Agent 当成受控执行主体，而不是可信管理员。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3246120" cy="1170432"/>
          </a:xfrm>
          <a:prstGeom prst="rect">
            <a:avLst/>
          </a:prstGeom>
          <a:solidFill>
            <a:srgbClr val="E1F4F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847088"/>
            <a:ext cx="109728" cy="117043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29968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450592"/>
            <a:ext cx="28072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SSO / MFA</a:t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租户与角色映射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1847088"/>
            <a:ext cx="3246120" cy="1170432"/>
          </a:xfrm>
          <a:prstGeom prst="rect">
            <a:avLst/>
          </a:prstGeom>
          <a:solidFill>
            <a:srgbClr val="EFEBF8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4" y="1847088"/>
            <a:ext cx="109728" cy="1170432"/>
          </a:xfrm>
          <a:prstGeom prst="rect">
            <a:avLst/>
          </a:prstGeom>
          <a:solidFill>
            <a:srgbClr val="6F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029968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6F57A6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50592"/>
            <a:ext cx="28072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RBAC + ABAC</a:t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工具白名单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3" y="1847088"/>
            <a:ext cx="3246120" cy="1170432"/>
          </a:xfrm>
          <a:prstGeom prst="rect">
            <a:avLst/>
          </a:prstGeom>
          <a:solidFill>
            <a:srgbClr val="FAEEE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847088"/>
            <a:ext cx="109728" cy="1170432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2029968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2450592"/>
            <a:ext cx="28072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脱敏 / DLP</a:t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密钥托管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401568"/>
            <a:ext cx="3246120" cy="1170432"/>
          </a:xfrm>
          <a:prstGeom prst="rect">
            <a:avLst/>
          </a:prstGeom>
          <a:solidFill>
            <a:srgbClr val="E5F3E9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3401568"/>
            <a:ext cx="109728" cy="1170432"/>
          </a:xfrm>
          <a:prstGeom prst="rect">
            <a:avLst/>
          </a:prstGeom>
          <a:solidFill>
            <a:srgbClr val="3F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584448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F8F5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4005072"/>
            <a:ext cx="28072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沙箱 / 网络策略</a:t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危险动作阻断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9704" y="3401568"/>
            <a:ext cx="3246120" cy="1170432"/>
          </a:xfrm>
          <a:prstGeom prst="rect">
            <a:avLst/>
          </a:prstGeom>
          <a:solidFill>
            <a:srgbClr val="E4EDF9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9704" y="3401568"/>
            <a:ext cx="109728" cy="1170432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3584448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736" y="4005072"/>
            <a:ext cx="28072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trace / 工具参数</a:t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审批记录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3" y="3401568"/>
            <a:ext cx="3246120" cy="1170432"/>
          </a:xfrm>
          <a:prstGeom prst="rect">
            <a:avLst/>
          </a:prstGeom>
          <a:solidFill>
            <a:srgbClr val="F9E7E7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3023" y="3401568"/>
            <a:ext cx="109728" cy="1170432"/>
          </a:xfrm>
          <a:prstGeom prst="rect">
            <a:avLst/>
          </a:prstGeom>
          <a:solidFill>
            <a:srgbClr val="B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5" y="3584448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5" y="4005072"/>
            <a:ext cx="28072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diff 回滚</a:t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幂等与接管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413248"/>
            <a:ext cx="10469880" cy="566928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96128"/>
            <a:ext cx="10012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红线：密钥不进提示词；生产动作不直连；高风险变更强制审批；全部工具调用可追溯。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性能设计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优化端到端任务完成能力，而不是只盯模型响应时间。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901952"/>
            <a:ext cx="3246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01952"/>
            <a:ext cx="109728" cy="146304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2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上下文性能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05456"/>
            <a:ext cx="2807208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摘要、检索、权限过滤、上下文预算，减少无效 token。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901952"/>
            <a:ext cx="3246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1901952"/>
            <a:ext cx="109728" cy="1463040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84832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运行时性能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505456"/>
            <a:ext cx="2807208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工作区预热、依赖缓存、工具并行、长任务 checkpoint。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01952"/>
            <a:ext cx="3246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01952"/>
            <a:ext cx="109728" cy="146304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084832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平台性能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05456"/>
            <a:ext cx="2807208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队列背压、限流、优先级调度、Worker 水平扩展。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977639"/>
            <a:ext cx="210312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14800"/>
            <a:ext cx="2011679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977639"/>
            <a:ext cx="288036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39" y="4114800"/>
            <a:ext cx="27889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79" y="3977639"/>
            <a:ext cx="288036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599" y="4114800"/>
            <a:ext cx="27889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Worker 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3977639"/>
            <a:ext cx="2880360" cy="502920"/>
          </a:xfrm>
          <a:prstGeom prst="rect">
            <a:avLst/>
          </a:prstGeom>
          <a:solidFill>
            <a:srgbClr val="1F252B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4114800"/>
            <a:ext cx="27889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80559"/>
            <a:ext cx="2103120" cy="475488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571999"/>
            <a:ext cx="1956815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480559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0672" y="4571999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排队/P95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79" y="4480559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71031" y="4571999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工具耗时/token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4480559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1392" y="4571999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交付周期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956048"/>
            <a:ext cx="2103120" cy="475488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047488"/>
            <a:ext cx="1956815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4956048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047488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成功/重试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79" y="4956048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71031" y="5047488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测试/diff 风险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0" y="4956048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51392" y="5047488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验收通过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5431536"/>
            <a:ext cx="2103120" cy="475488"/>
          </a:xfrm>
          <a:prstGeom prst="rect">
            <a:avLst/>
          </a:prstGeom>
          <a:solidFill>
            <a:srgbClr val="EFF2F0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522975"/>
            <a:ext cx="1956815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5431536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0672" y="5522975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预算/限流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79" y="5431536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71031" y="5522975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模型与资源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5431536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51392" y="5522975"/>
            <a:ext cx="273405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节省工时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参考 API 与数据模型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平台 API 要围绕任务状态、事件流、审批和产物设计。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" y="1920240"/>
            <a:ext cx="5303520" cy="306324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475488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  /agent/tasks</a:t>
            </a:r>
          </a:p>
          <a:p>
            <a:pPr algn="l">
              <a:lnSpc>
                <a:spcPct val="118000"/>
              </a:lnSpc>
            </a:pPr>
            <a:r>
              <a:rPr sz="1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/agent/tasks/{id}</a:t>
            </a:r>
          </a:p>
          <a:p>
            <a:pPr algn="l">
              <a:lnSpc>
                <a:spcPct val="118000"/>
              </a:lnSpc>
            </a:pPr>
            <a:r>
              <a:rPr sz="1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/agent/tasks/{id}/events</a:t>
            </a:r>
          </a:p>
          <a:p>
            <a:pPr algn="l">
              <a:lnSpc>
                <a:spcPct val="118000"/>
              </a:lnSpc>
            </a:pPr>
            <a:r>
              <a:rPr sz="1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PATCH /agent/tasks/{id}/approval</a:t>
            </a:r>
          </a:p>
          <a:p>
            <a:pPr algn="l">
              <a:lnSpc>
                <a:spcPct val="118000"/>
              </a:lnSpc>
            </a:pPr>
            <a:r>
              <a:rPr sz="1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/agent/tasks/{id}/artifacts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920240"/>
            <a:ext cx="2148840" cy="1097280"/>
          </a:xfrm>
          <a:prstGeom prst="rect">
            <a:avLst/>
          </a:prstGeom>
          <a:solidFill>
            <a:srgbClr val="E1F4F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920240"/>
            <a:ext cx="109728" cy="109728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2103120"/>
            <a:ext cx="1691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2523744"/>
            <a:ext cx="1709928" cy="38404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目标、仓库、权限、预算、风险等级。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9408" y="1920240"/>
            <a:ext cx="2148840" cy="1097280"/>
          </a:xfrm>
          <a:prstGeom prst="rect">
            <a:avLst/>
          </a:prstGeom>
          <a:solidFill>
            <a:srgbClr val="FAEEE2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79408" y="1920240"/>
            <a:ext cx="109728" cy="1097280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03120"/>
            <a:ext cx="1691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23744"/>
            <a:ext cx="1709928" cy="38404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一次执行、状态、Worker、事件偏移。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493008"/>
            <a:ext cx="2148840" cy="1097280"/>
          </a:xfrm>
          <a:prstGeom prst="rect">
            <a:avLst/>
          </a:prstGeom>
          <a:solidFill>
            <a:srgbClr val="F9E7E7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3493008"/>
            <a:ext cx="109728" cy="1097280"/>
          </a:xfrm>
          <a:prstGeom prst="rect">
            <a:avLst/>
          </a:prstGeom>
          <a:solidFill>
            <a:srgbClr val="B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675887"/>
            <a:ext cx="1691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096511"/>
            <a:ext cx="1709928" cy="38404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审批人、理由、动作、证据。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9408" y="3493008"/>
            <a:ext cx="2148840" cy="1097280"/>
          </a:xfrm>
          <a:prstGeom prst="rect">
            <a:avLst/>
          </a:prstGeom>
          <a:solidFill>
            <a:srgbClr val="E4EDF9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408" y="3493008"/>
            <a:ext cx="109728" cy="109728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675887"/>
            <a:ext cx="1691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096511"/>
            <a:ext cx="1709928" cy="38404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diff、日志、测试报告、交付文件。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实施路线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先做可控闭环，再扩展入口、并发和复杂连接器。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965960"/>
            <a:ext cx="2331720" cy="2697480"/>
          </a:xfrm>
          <a:prstGeom prst="rect">
            <a:avLst/>
          </a:prstGeom>
          <a:solidFill>
            <a:srgbClr val="FFFFFF"/>
          </a:solidFill>
          <a:ln w="16510">
            <a:solidFill>
              <a:srgbClr val="0C8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65960"/>
            <a:ext cx="2331720" cy="54864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121408"/>
            <a:ext cx="20574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43200"/>
            <a:ext cx="20574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310128"/>
            <a:ext cx="192024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选 2-3 个研发场景，跑通仓库读取、补丁生成、测试和人工确认。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0168" y="1965960"/>
            <a:ext cx="2331720" cy="2697480"/>
          </a:xfrm>
          <a:prstGeom prst="rect">
            <a:avLst/>
          </a:prstGeom>
          <a:solidFill>
            <a:srgbClr val="FFFFFF"/>
          </a:solidFill>
          <a:ln w="16510">
            <a:solidFill>
              <a:srgbClr val="C06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1965960"/>
            <a:ext cx="2331720" cy="548640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121408"/>
            <a:ext cx="20574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743200"/>
            <a:ext cx="20574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平台核心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5" y="3310128"/>
            <a:ext cx="192024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建设 Gateway、任务状态机、会话存储、Worker 池和事件流。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1965960"/>
            <a:ext cx="2331720" cy="2697480"/>
          </a:xfrm>
          <a:prstGeom prst="rect">
            <a:avLst/>
          </a:prstGeom>
          <a:solidFill>
            <a:srgbClr val="FFFFFF"/>
          </a:solidFill>
          <a:ln w="16510">
            <a:solidFill>
              <a:srgbClr val="B8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1965960"/>
            <a:ext cx="2331720" cy="548640"/>
          </a:xfrm>
          <a:prstGeom prst="rect">
            <a:avLst/>
          </a:prstGeom>
          <a:solidFill>
            <a:srgbClr val="B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121408"/>
            <a:ext cx="20574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743200"/>
            <a:ext cx="20574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治理上线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5" y="3310128"/>
            <a:ext cx="192024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接入 SSO、RBAC、审批、审计、密钥托管、DLP 和安全沙箱。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7" y="1965960"/>
            <a:ext cx="2331720" cy="2697480"/>
          </a:xfrm>
          <a:prstGeom prst="rect">
            <a:avLst/>
          </a:prstGeom>
          <a:solidFill>
            <a:srgbClr val="FFFFFF"/>
          </a:solidFill>
          <a:ln w="16510">
            <a:solidFill>
              <a:srgbClr val="2D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08007" y="1965960"/>
            <a:ext cx="2331720" cy="54864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2121408"/>
            <a:ext cx="20574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2743200"/>
            <a:ext cx="20574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D65B2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3310128"/>
            <a:ext cx="192024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多租户配额、成本看板、评测体系、连接器市场和运营指标。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347472"/>
            <a:ext cx="3108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502920"/>
            <a:ext cx="822960" cy="73152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68096"/>
            <a:ext cx="104698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交付清单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用于立项评审或技术方案评审的最小完整范围。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700784"/>
            <a:ext cx="10698480" cy="13716"/>
          </a:xfrm>
          <a:prstGeom prst="rect">
            <a:avLst/>
          </a:prstGeom>
          <a:solidFill>
            <a:srgbClr val="CF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74519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874519"/>
            <a:ext cx="109728" cy="1600200"/>
          </a:xfrm>
          <a:prstGeom prst="rect">
            <a:avLst/>
          </a:prstGeom>
          <a:solidFill>
            <a:srgbClr val="0C8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0C867E"/>
                </a:solidFill>
                <a:latin typeface="Microsoft YaHei"/>
                <a:ea typeface="Microsoft YaHei"/>
                <a:cs typeface="Microsoft YaHei"/>
              </a:rPr>
              <a:t>架构文档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78024"/>
            <a:ext cx="2807208" cy="8869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总体架构、模块边界、数据流、权限边界、故障处理。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874519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1874519"/>
            <a:ext cx="109728" cy="1600200"/>
          </a:xfrm>
          <a:prstGeom prst="rect">
            <a:avLst/>
          </a:prstGeom>
          <a:solidFill>
            <a:srgbClr val="C0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C06A2D"/>
                </a:solidFill>
                <a:latin typeface="Microsoft YaHei"/>
                <a:ea typeface="Microsoft YaHei"/>
                <a:cs typeface="Microsoft YaHei"/>
              </a:rPr>
              <a:t>平台原型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478024"/>
            <a:ext cx="2807208" cy="8869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统一入口、任务状态机、事件流、Worker 池、审批链。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109728" cy="1600200"/>
          </a:xfrm>
          <a:prstGeom prst="rect">
            <a:avLst/>
          </a:prstGeom>
          <a:solidFill>
            <a:srgbClr val="B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057400"/>
            <a:ext cx="2788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B83D3D"/>
                </a:solidFill>
                <a:latin typeface="Microsoft YaHei"/>
                <a:ea typeface="Microsoft YaHei"/>
                <a:cs typeface="Microsoft YaHei"/>
              </a:rPr>
              <a:t>治理基线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478024"/>
            <a:ext cx="2807208" cy="8869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1D2630"/>
                </a:solidFill>
                <a:latin typeface="Microsoft YaHei"/>
                <a:ea typeface="Microsoft YaHei"/>
                <a:cs typeface="Microsoft YaHei"/>
              </a:rPr>
              <a:t>工具白名单、密钥托管、审计、DLP、回滚和评测指标。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343400"/>
            <a:ext cx="10469880" cy="868680"/>
          </a:xfrm>
          <a:prstGeom prst="rect">
            <a:avLst/>
          </a:prstGeom>
          <a:solidFill>
            <a:srgbClr val="1F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45152"/>
            <a:ext cx="9966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结论：Codex 更适合承接企业软件工程 Agent 的执行闭环；平台化重点是把执行能力纳入统一治理。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6473952"/>
            <a:ext cx="53035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Codex 二次开发用于企业级 Agent 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475488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>
                <a:solidFill>
                  <a:srgbClr val="54606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